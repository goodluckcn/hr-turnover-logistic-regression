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8"/>
  </p:notesMasterIdLst>
  <p:handoutMasterIdLst>
    <p:handoutMasterId r:id="rId9"/>
  </p:handoutMasterIdLst>
  <p:sldIdLst>
    <p:sldId id="256" r:id="rId2"/>
    <p:sldId id="262" r:id="rId3"/>
    <p:sldId id="264" r:id="rId4"/>
    <p:sldId id="266" r:id="rId5"/>
    <p:sldId id="265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bel nerea" initials="an" lastIdx="1" clrIdx="0">
    <p:extLst>
      <p:ext uri="{19B8F6BF-5375-455C-9EA6-DF929625EA0E}">
        <p15:presenceInfo xmlns:p15="http://schemas.microsoft.com/office/powerpoint/2012/main" userId="872e68c281a41c5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C9D5"/>
    <a:srgbClr val="B64A4A"/>
    <a:srgbClr val="92D050"/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48" autoAdjust="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13484E-3629-4661-80BF-A9970E089A0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</dgm:spPr>
      <dgm:t>
        <a:bodyPr/>
        <a:lstStyle/>
        <a:p>
          <a:endParaRPr lang="en-US"/>
        </a:p>
      </dgm:t>
    </dgm:pt>
    <dgm:pt modelId="{F6F0D3CD-7823-41E5-B5C7-93FE067F1339}">
      <dgm:prSet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 dirty="0"/>
            <a:t>Final model regression summary after removing non-significant variables </a:t>
          </a:r>
        </a:p>
      </dgm:t>
    </dgm:pt>
    <dgm:pt modelId="{96D4CF10-2EF7-49B0-845B-00DF42D769A6}" type="parTrans" cxnId="{046E59E0-B00F-4F7A-97DD-CE83BC873882}">
      <dgm:prSet/>
      <dgm:spPr/>
      <dgm:t>
        <a:bodyPr/>
        <a:lstStyle/>
        <a:p>
          <a:endParaRPr lang="en-US"/>
        </a:p>
      </dgm:t>
    </dgm:pt>
    <dgm:pt modelId="{8F1481E7-F9FB-4C0B-943C-33D3A73805AF}" type="sibTrans" cxnId="{046E59E0-B00F-4F7A-97DD-CE83BC873882}">
      <dgm:prSet/>
      <dgm:spPr/>
      <dgm:t>
        <a:bodyPr/>
        <a:lstStyle/>
        <a:p>
          <a:endParaRPr lang="en-US"/>
        </a:p>
      </dgm:t>
    </dgm:pt>
    <dgm:pt modelId="{DF4907F4-9BC0-4042-9330-96C612146200}" type="pres">
      <dgm:prSet presAssocID="{4213484E-3629-4661-80BF-A9970E089A03}" presName="linear" presStyleCnt="0">
        <dgm:presLayoutVars>
          <dgm:animLvl val="lvl"/>
          <dgm:resizeHandles val="exact"/>
        </dgm:presLayoutVars>
      </dgm:prSet>
      <dgm:spPr/>
    </dgm:pt>
    <dgm:pt modelId="{2BA8A87F-EA45-4120-AB0D-2B52198A9F2F}" type="pres">
      <dgm:prSet presAssocID="{F6F0D3CD-7823-41E5-B5C7-93FE067F1339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87BA8444-8E8C-4491-A96E-F4AC865BEC06}" type="presOf" srcId="{F6F0D3CD-7823-41E5-B5C7-93FE067F1339}" destId="{2BA8A87F-EA45-4120-AB0D-2B52198A9F2F}" srcOrd="0" destOrd="0" presId="urn:microsoft.com/office/officeart/2005/8/layout/vList2"/>
    <dgm:cxn modelId="{00844BDF-2588-4B26-B111-3DBA364EEBA6}" type="presOf" srcId="{4213484E-3629-4661-80BF-A9970E089A03}" destId="{DF4907F4-9BC0-4042-9330-96C612146200}" srcOrd="0" destOrd="0" presId="urn:microsoft.com/office/officeart/2005/8/layout/vList2"/>
    <dgm:cxn modelId="{046E59E0-B00F-4F7A-97DD-CE83BC873882}" srcId="{4213484E-3629-4661-80BF-A9970E089A03}" destId="{F6F0D3CD-7823-41E5-B5C7-93FE067F1339}" srcOrd="0" destOrd="0" parTransId="{96D4CF10-2EF7-49B0-845B-00DF42D769A6}" sibTransId="{8F1481E7-F9FB-4C0B-943C-33D3A73805AF}"/>
    <dgm:cxn modelId="{A0DC3319-E203-4EE2-9127-6698162D859A}" type="presParOf" srcId="{DF4907F4-9BC0-4042-9330-96C612146200}" destId="{2BA8A87F-EA45-4120-AB0D-2B52198A9F2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A3CE790-A12C-4847-BF96-5F1DBA26E51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AE7E380-083C-4B72-B0A6-39D5D0E540C6}">
      <dgm:prSet custT="1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 sz="1100" dirty="0"/>
            <a:t>Initial model regression summary. </a:t>
          </a:r>
        </a:p>
      </dgm:t>
    </dgm:pt>
    <dgm:pt modelId="{B49FDCFA-916F-47DA-93E8-F088B79F88BD}" type="parTrans" cxnId="{5061CADC-8270-4008-B1C6-A9A5341259BE}">
      <dgm:prSet/>
      <dgm:spPr/>
      <dgm:t>
        <a:bodyPr/>
        <a:lstStyle/>
        <a:p>
          <a:endParaRPr lang="en-US"/>
        </a:p>
      </dgm:t>
    </dgm:pt>
    <dgm:pt modelId="{261C00EB-C3F8-48D1-A846-915C86F339C2}" type="sibTrans" cxnId="{5061CADC-8270-4008-B1C6-A9A5341259BE}">
      <dgm:prSet/>
      <dgm:spPr/>
      <dgm:t>
        <a:bodyPr/>
        <a:lstStyle/>
        <a:p>
          <a:endParaRPr lang="en-US"/>
        </a:p>
      </dgm:t>
    </dgm:pt>
    <dgm:pt modelId="{22718DA0-7ED2-47DB-B919-91C513688216}" type="pres">
      <dgm:prSet presAssocID="{BA3CE790-A12C-4847-BF96-5F1DBA26E51D}" presName="linear" presStyleCnt="0">
        <dgm:presLayoutVars>
          <dgm:animLvl val="lvl"/>
          <dgm:resizeHandles val="exact"/>
        </dgm:presLayoutVars>
      </dgm:prSet>
      <dgm:spPr/>
    </dgm:pt>
    <dgm:pt modelId="{F4157E69-288D-463F-89EF-BB3BA04A69C4}" type="pres">
      <dgm:prSet presAssocID="{AAE7E380-083C-4B72-B0A6-39D5D0E540C6}" presName="parentText" presStyleLbl="node1" presStyleIdx="0" presStyleCnt="1" custLinFactNeighborX="0" custLinFactNeighborY="-38">
        <dgm:presLayoutVars>
          <dgm:chMax val="0"/>
          <dgm:bulletEnabled val="1"/>
        </dgm:presLayoutVars>
      </dgm:prSet>
      <dgm:spPr/>
    </dgm:pt>
  </dgm:ptLst>
  <dgm:cxnLst>
    <dgm:cxn modelId="{C660743E-0C8C-4C30-A03A-DF2111F4A60E}" type="presOf" srcId="{AAE7E380-083C-4B72-B0A6-39D5D0E540C6}" destId="{F4157E69-288D-463F-89EF-BB3BA04A69C4}" srcOrd="0" destOrd="0" presId="urn:microsoft.com/office/officeart/2005/8/layout/vList2"/>
    <dgm:cxn modelId="{5172217A-48CE-4B4D-854A-3D1A583B45E9}" type="presOf" srcId="{BA3CE790-A12C-4847-BF96-5F1DBA26E51D}" destId="{22718DA0-7ED2-47DB-B919-91C513688216}" srcOrd="0" destOrd="0" presId="urn:microsoft.com/office/officeart/2005/8/layout/vList2"/>
    <dgm:cxn modelId="{5061CADC-8270-4008-B1C6-A9A5341259BE}" srcId="{BA3CE790-A12C-4847-BF96-5F1DBA26E51D}" destId="{AAE7E380-083C-4B72-B0A6-39D5D0E540C6}" srcOrd="0" destOrd="0" parTransId="{B49FDCFA-916F-47DA-93E8-F088B79F88BD}" sibTransId="{261C00EB-C3F8-48D1-A846-915C86F339C2}"/>
    <dgm:cxn modelId="{1E6259E4-EA51-4E3C-B1DB-4815EE262674}" type="presParOf" srcId="{22718DA0-7ED2-47DB-B919-91C513688216}" destId="{F4157E69-288D-463F-89EF-BB3BA04A69C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C8EC50C-CCF0-4D9B-8C4C-E14741476503}" type="doc">
      <dgm:prSet loTypeId="urn:microsoft.com/office/officeart/2005/8/layout/vList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7532CBE-7245-46DE-B1C7-ABD8FEBBF368}">
      <dgm:prSet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 dirty="0"/>
            <a:t>Comments on our expectations bases on regression summary   </a:t>
          </a:r>
        </a:p>
      </dgm:t>
    </dgm:pt>
    <dgm:pt modelId="{3A57DDC6-0126-4614-95D2-5B0330DABD4A}" type="parTrans" cxnId="{AAA9FF33-427A-445B-94B7-680EE3CD9D5F}">
      <dgm:prSet/>
      <dgm:spPr/>
      <dgm:t>
        <a:bodyPr/>
        <a:lstStyle/>
        <a:p>
          <a:endParaRPr lang="en-US"/>
        </a:p>
      </dgm:t>
    </dgm:pt>
    <dgm:pt modelId="{90CF7C87-4694-49AB-B3C6-E7735182A455}" type="sibTrans" cxnId="{AAA9FF33-427A-445B-94B7-680EE3CD9D5F}">
      <dgm:prSet/>
      <dgm:spPr/>
      <dgm:t>
        <a:bodyPr/>
        <a:lstStyle/>
        <a:p>
          <a:endParaRPr lang="en-US"/>
        </a:p>
      </dgm:t>
    </dgm:pt>
    <dgm:pt modelId="{7F54262C-9630-468F-82A8-622CA6D695DD}" type="pres">
      <dgm:prSet presAssocID="{4C8EC50C-CCF0-4D9B-8C4C-E14741476503}" presName="linear" presStyleCnt="0">
        <dgm:presLayoutVars>
          <dgm:animLvl val="lvl"/>
          <dgm:resizeHandles val="exact"/>
        </dgm:presLayoutVars>
      </dgm:prSet>
      <dgm:spPr/>
    </dgm:pt>
    <dgm:pt modelId="{63FFD2CF-F25C-4055-A7D7-6C078E40B16F}" type="pres">
      <dgm:prSet presAssocID="{77532CBE-7245-46DE-B1C7-ABD8FEBBF368}" presName="parentText" presStyleLbl="node1" presStyleIdx="0" presStyleCnt="1" custScaleX="95546">
        <dgm:presLayoutVars>
          <dgm:chMax val="0"/>
          <dgm:bulletEnabled val="1"/>
        </dgm:presLayoutVars>
      </dgm:prSet>
      <dgm:spPr/>
    </dgm:pt>
  </dgm:ptLst>
  <dgm:cxnLst>
    <dgm:cxn modelId="{00FA6511-F470-47E1-A584-46E86BD6DA9A}" type="presOf" srcId="{4C8EC50C-CCF0-4D9B-8C4C-E14741476503}" destId="{7F54262C-9630-468F-82A8-622CA6D695DD}" srcOrd="0" destOrd="0" presId="urn:microsoft.com/office/officeart/2005/8/layout/vList2"/>
    <dgm:cxn modelId="{7C89781E-B5AE-439C-847B-CD80B5715C68}" type="presOf" srcId="{77532CBE-7245-46DE-B1C7-ABD8FEBBF368}" destId="{63FFD2CF-F25C-4055-A7D7-6C078E40B16F}" srcOrd="0" destOrd="0" presId="urn:microsoft.com/office/officeart/2005/8/layout/vList2"/>
    <dgm:cxn modelId="{AAA9FF33-427A-445B-94B7-680EE3CD9D5F}" srcId="{4C8EC50C-CCF0-4D9B-8C4C-E14741476503}" destId="{77532CBE-7245-46DE-B1C7-ABD8FEBBF368}" srcOrd="0" destOrd="0" parTransId="{3A57DDC6-0126-4614-95D2-5B0330DABD4A}" sibTransId="{90CF7C87-4694-49AB-B3C6-E7735182A455}"/>
    <dgm:cxn modelId="{2D64CA41-604D-4241-9360-6C5D4180D79A}" type="presParOf" srcId="{7F54262C-9630-468F-82A8-622CA6D695DD}" destId="{63FFD2CF-F25C-4055-A7D7-6C078E40B16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F46E4E8-C24B-4F9B-961C-9198EA653C76}" type="doc">
      <dgm:prSet loTypeId="urn:microsoft.com/office/officeart/2005/8/layout/vList2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126BB40-7E68-464B-9BC9-8E3C54F033EF}">
      <dgm:prSet/>
      <dgm:spPr/>
      <dgm:t>
        <a:bodyPr/>
        <a:lstStyle/>
        <a:p>
          <a:r>
            <a:rPr lang="en-US" b="1"/>
            <a:t>Reasons why we expected above signs</a:t>
          </a:r>
          <a:endParaRPr lang="en-US"/>
        </a:p>
      </dgm:t>
    </dgm:pt>
    <dgm:pt modelId="{FA60711A-CAC0-49BF-A4D7-38B30B91A7E7}" type="parTrans" cxnId="{85F0D52D-2C83-448D-AE73-CA5DC05B6383}">
      <dgm:prSet/>
      <dgm:spPr/>
      <dgm:t>
        <a:bodyPr/>
        <a:lstStyle/>
        <a:p>
          <a:endParaRPr lang="en-US"/>
        </a:p>
      </dgm:t>
    </dgm:pt>
    <dgm:pt modelId="{D271BD79-2C6B-447B-B316-C1D23BC0471D}" type="sibTrans" cxnId="{85F0D52D-2C83-448D-AE73-CA5DC05B6383}">
      <dgm:prSet/>
      <dgm:spPr/>
      <dgm:t>
        <a:bodyPr/>
        <a:lstStyle/>
        <a:p>
          <a:endParaRPr lang="en-US"/>
        </a:p>
      </dgm:t>
    </dgm:pt>
    <dgm:pt modelId="{E5F47FFF-F06B-4DB7-B6A4-5F692D12C5F3}" type="pres">
      <dgm:prSet presAssocID="{9F46E4E8-C24B-4F9B-961C-9198EA653C76}" presName="linear" presStyleCnt="0">
        <dgm:presLayoutVars>
          <dgm:animLvl val="lvl"/>
          <dgm:resizeHandles val="exact"/>
        </dgm:presLayoutVars>
      </dgm:prSet>
      <dgm:spPr/>
    </dgm:pt>
    <dgm:pt modelId="{AF4D8D24-7B83-4583-BFDB-87319736B281}" type="pres">
      <dgm:prSet presAssocID="{5126BB40-7E68-464B-9BC9-8E3C54F033EF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85F0D52D-2C83-448D-AE73-CA5DC05B6383}" srcId="{9F46E4E8-C24B-4F9B-961C-9198EA653C76}" destId="{5126BB40-7E68-464B-9BC9-8E3C54F033EF}" srcOrd="0" destOrd="0" parTransId="{FA60711A-CAC0-49BF-A4D7-38B30B91A7E7}" sibTransId="{D271BD79-2C6B-447B-B316-C1D23BC0471D}"/>
    <dgm:cxn modelId="{B46BECC4-81A2-4CDB-AE67-1A1DCB3657B1}" type="presOf" srcId="{5126BB40-7E68-464B-9BC9-8E3C54F033EF}" destId="{AF4D8D24-7B83-4583-BFDB-87319736B281}" srcOrd="0" destOrd="0" presId="urn:microsoft.com/office/officeart/2005/8/layout/vList2"/>
    <dgm:cxn modelId="{9DB315F7-C792-4351-A717-D9A340D78968}" type="presOf" srcId="{9F46E4E8-C24B-4F9B-961C-9198EA653C76}" destId="{E5F47FFF-F06B-4DB7-B6A4-5F692D12C5F3}" srcOrd="0" destOrd="0" presId="urn:microsoft.com/office/officeart/2005/8/layout/vList2"/>
    <dgm:cxn modelId="{DFE0B4E8-0139-4D12-A698-8A6A285E816A}" type="presParOf" srcId="{E5F47FFF-F06B-4DB7-B6A4-5F692D12C5F3}" destId="{AF4D8D24-7B83-4583-BFDB-87319736B28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22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0A490DA-6FD0-4E59-8294-F77AC0A38D82}" type="doc">
      <dgm:prSet loTypeId="urn:microsoft.com/office/officeart/2005/8/layout/vList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AA4814C-7DBD-4C10-B497-8C925EB060D8}">
      <dgm:prSet/>
      <dgm:spPr/>
      <dgm:t>
        <a:bodyPr/>
        <a:lstStyle/>
        <a:p>
          <a:r>
            <a:rPr lang="en-US" dirty="0"/>
            <a:t>Summarized procedures are below:</a:t>
          </a:r>
        </a:p>
      </dgm:t>
    </dgm:pt>
    <dgm:pt modelId="{C4655571-0B83-4A21-9054-FA156CB72ED1}" type="parTrans" cxnId="{B539FE4B-D3B3-44CE-98F4-3341F36C8E52}">
      <dgm:prSet/>
      <dgm:spPr/>
      <dgm:t>
        <a:bodyPr/>
        <a:lstStyle/>
        <a:p>
          <a:endParaRPr lang="en-US"/>
        </a:p>
      </dgm:t>
    </dgm:pt>
    <dgm:pt modelId="{CD31E970-ACCE-494E-B3C7-180167CA3703}" type="sibTrans" cxnId="{B539FE4B-D3B3-44CE-98F4-3341F36C8E52}">
      <dgm:prSet/>
      <dgm:spPr/>
      <dgm:t>
        <a:bodyPr/>
        <a:lstStyle/>
        <a:p>
          <a:endParaRPr lang="en-US"/>
        </a:p>
      </dgm:t>
    </dgm:pt>
    <dgm:pt modelId="{60D7048F-94AA-4CE3-B00F-75933D9AD670}">
      <dgm:prSet/>
      <dgm:spPr/>
      <dgm:t>
        <a:bodyPr/>
        <a:lstStyle/>
        <a:p>
          <a:pPr>
            <a:lnSpc>
              <a:spcPct val="150000"/>
            </a:lnSpc>
            <a:buFont typeface="+mj-lt"/>
            <a:buAutoNum type="arabicPeriod"/>
          </a:pPr>
          <a:r>
            <a:rPr lang="en-US" dirty="0"/>
            <a:t>Define the test and train set and split into train and test sets.</a:t>
          </a:r>
        </a:p>
      </dgm:t>
    </dgm:pt>
    <dgm:pt modelId="{DA612450-5511-43B4-ADEF-552D19C0590A}" type="parTrans" cxnId="{1A5AE27D-BB81-4DC4-BA23-A3CD97D9F34A}">
      <dgm:prSet/>
      <dgm:spPr/>
      <dgm:t>
        <a:bodyPr/>
        <a:lstStyle/>
        <a:p>
          <a:endParaRPr lang="en-US"/>
        </a:p>
      </dgm:t>
    </dgm:pt>
    <dgm:pt modelId="{01DFA305-58A4-4BBE-9013-9D34E2FBBCE1}" type="sibTrans" cxnId="{1A5AE27D-BB81-4DC4-BA23-A3CD97D9F34A}">
      <dgm:prSet/>
      <dgm:spPr/>
      <dgm:t>
        <a:bodyPr/>
        <a:lstStyle/>
        <a:p>
          <a:endParaRPr lang="en-US"/>
        </a:p>
      </dgm:t>
    </dgm:pt>
    <dgm:pt modelId="{7FC1E76C-F2DE-4DF3-ABA8-D83FE6001FF6}">
      <dgm:prSet/>
      <dgm:spPr/>
      <dgm:t>
        <a:bodyPr/>
        <a:lstStyle/>
        <a:p>
          <a:pPr>
            <a:lnSpc>
              <a:spcPct val="150000"/>
            </a:lnSpc>
            <a:buFont typeface="+mj-lt"/>
            <a:buAutoNum type="arabicPeriod"/>
          </a:pPr>
          <a:r>
            <a:rPr lang="en-US" dirty="0"/>
            <a:t>Define the model using logistic regression </a:t>
          </a:r>
        </a:p>
      </dgm:t>
    </dgm:pt>
    <dgm:pt modelId="{CCE5ACDF-6137-4135-87EB-57592571631A}" type="parTrans" cxnId="{6FE1695D-EC8D-47B8-AD03-7D38A8D0D0F8}">
      <dgm:prSet/>
      <dgm:spPr/>
      <dgm:t>
        <a:bodyPr/>
        <a:lstStyle/>
        <a:p>
          <a:endParaRPr lang="en-US"/>
        </a:p>
      </dgm:t>
    </dgm:pt>
    <dgm:pt modelId="{FD5E1966-1317-48BA-8557-E7D4027F84E3}" type="sibTrans" cxnId="{6FE1695D-EC8D-47B8-AD03-7D38A8D0D0F8}">
      <dgm:prSet/>
      <dgm:spPr/>
      <dgm:t>
        <a:bodyPr/>
        <a:lstStyle/>
        <a:p>
          <a:endParaRPr lang="en-US"/>
        </a:p>
      </dgm:t>
    </dgm:pt>
    <dgm:pt modelId="{09C81782-702E-49E0-9233-E8B3F647F9E4}">
      <dgm:prSet/>
      <dgm:spPr/>
      <dgm:t>
        <a:bodyPr/>
        <a:lstStyle/>
        <a:p>
          <a:pPr>
            <a:lnSpc>
              <a:spcPct val="150000"/>
            </a:lnSpc>
            <a:buFont typeface="+mj-lt"/>
            <a:buAutoNum type="arabicPeriod"/>
          </a:pPr>
          <a:r>
            <a:rPr lang="en-US" dirty="0"/>
            <a:t>Fit the model on the training dataset </a:t>
          </a:r>
        </a:p>
      </dgm:t>
    </dgm:pt>
    <dgm:pt modelId="{F52DCE20-97E0-4244-AC6C-60AE088C8B43}" type="parTrans" cxnId="{0B6EC0EE-A943-4D14-A2BF-44486AE81FA7}">
      <dgm:prSet/>
      <dgm:spPr/>
      <dgm:t>
        <a:bodyPr/>
        <a:lstStyle/>
        <a:p>
          <a:endParaRPr lang="en-US"/>
        </a:p>
      </dgm:t>
    </dgm:pt>
    <dgm:pt modelId="{60C02124-600D-4B07-B270-5C49C36565A6}" type="sibTrans" cxnId="{0B6EC0EE-A943-4D14-A2BF-44486AE81FA7}">
      <dgm:prSet/>
      <dgm:spPr/>
      <dgm:t>
        <a:bodyPr/>
        <a:lstStyle/>
        <a:p>
          <a:endParaRPr lang="en-US"/>
        </a:p>
      </dgm:t>
    </dgm:pt>
    <dgm:pt modelId="{0F5F38A2-20DF-4D24-A812-7C53C9548A94}">
      <dgm:prSet/>
      <dgm:spPr/>
      <dgm:t>
        <a:bodyPr/>
        <a:lstStyle/>
        <a:p>
          <a:pPr>
            <a:lnSpc>
              <a:spcPct val="150000"/>
            </a:lnSpc>
            <a:buFont typeface="+mj-lt"/>
            <a:buAutoNum type="arabicPeriod"/>
          </a:pPr>
          <a:r>
            <a:rPr lang="en-US" dirty="0"/>
            <a:t>Calculate the confusion matrix </a:t>
          </a:r>
        </a:p>
      </dgm:t>
    </dgm:pt>
    <dgm:pt modelId="{249BF9A7-9E3C-4116-8976-B8405BA2920B}" type="parTrans" cxnId="{FB190DB6-10FF-43C2-AF5E-0D6FD7E89B06}">
      <dgm:prSet/>
      <dgm:spPr/>
      <dgm:t>
        <a:bodyPr/>
        <a:lstStyle/>
        <a:p>
          <a:endParaRPr lang="en-US"/>
        </a:p>
      </dgm:t>
    </dgm:pt>
    <dgm:pt modelId="{2F270569-B828-461B-BD0E-159F2FF12BD1}" type="sibTrans" cxnId="{FB190DB6-10FF-43C2-AF5E-0D6FD7E89B06}">
      <dgm:prSet/>
      <dgm:spPr/>
      <dgm:t>
        <a:bodyPr/>
        <a:lstStyle/>
        <a:p>
          <a:endParaRPr lang="en-US"/>
        </a:p>
      </dgm:t>
    </dgm:pt>
    <dgm:pt modelId="{1D8F1C4A-00A6-4F7A-B78A-8F0B22C0342D}">
      <dgm:prSet/>
      <dgm:spPr/>
      <dgm:t>
        <a:bodyPr/>
        <a:lstStyle/>
        <a:p>
          <a:pPr>
            <a:lnSpc>
              <a:spcPct val="150000"/>
            </a:lnSpc>
            <a:buFont typeface="+mj-lt"/>
            <a:buAutoNum type="arabicPeriod"/>
          </a:pPr>
          <a:r>
            <a:rPr lang="en-US" dirty="0"/>
            <a:t>Get Accuracy</a:t>
          </a:r>
        </a:p>
      </dgm:t>
    </dgm:pt>
    <dgm:pt modelId="{DE069D6A-1A96-4B39-9930-7326A6B01387}" type="parTrans" cxnId="{E3E64631-CA4E-4BE4-AD51-7B3833B1DAA8}">
      <dgm:prSet/>
      <dgm:spPr/>
      <dgm:t>
        <a:bodyPr/>
        <a:lstStyle/>
        <a:p>
          <a:endParaRPr lang="en-US"/>
        </a:p>
      </dgm:t>
    </dgm:pt>
    <dgm:pt modelId="{85DA32C7-1C81-480C-A551-911D9AF7CCB8}" type="sibTrans" cxnId="{E3E64631-CA4E-4BE4-AD51-7B3833B1DAA8}">
      <dgm:prSet/>
      <dgm:spPr/>
      <dgm:t>
        <a:bodyPr/>
        <a:lstStyle/>
        <a:p>
          <a:endParaRPr lang="en-US"/>
        </a:p>
      </dgm:t>
    </dgm:pt>
    <dgm:pt modelId="{FF997A3A-67F1-4F1E-BEFD-02FCB91E865F}">
      <dgm:prSet/>
      <dgm:spPr/>
      <dgm:t>
        <a:bodyPr/>
        <a:lstStyle/>
        <a:p>
          <a:pPr>
            <a:lnSpc>
              <a:spcPct val="150000"/>
            </a:lnSpc>
            <a:buFont typeface="+mj-lt"/>
            <a:buAutoNum type="arabicPeriod"/>
          </a:pPr>
          <a:r>
            <a:rPr lang="en-US" dirty="0"/>
            <a:t>Improve the model by using ROC curves to get thresholds </a:t>
          </a:r>
        </a:p>
      </dgm:t>
    </dgm:pt>
    <dgm:pt modelId="{CE50C241-D1B4-41AF-A3F0-E481704CF26B}" type="parTrans" cxnId="{764C7AFF-F1F3-4D87-B196-C8B9483EB479}">
      <dgm:prSet/>
      <dgm:spPr/>
      <dgm:t>
        <a:bodyPr/>
        <a:lstStyle/>
        <a:p>
          <a:endParaRPr lang="en-US"/>
        </a:p>
      </dgm:t>
    </dgm:pt>
    <dgm:pt modelId="{6F25FCDF-B0B6-4F6D-A5F3-FF708D6BC458}" type="sibTrans" cxnId="{764C7AFF-F1F3-4D87-B196-C8B9483EB479}">
      <dgm:prSet/>
      <dgm:spPr/>
      <dgm:t>
        <a:bodyPr/>
        <a:lstStyle/>
        <a:p>
          <a:endParaRPr lang="en-US"/>
        </a:p>
      </dgm:t>
    </dgm:pt>
    <dgm:pt modelId="{79D52FCC-AE08-4CC8-AC67-5125F1F7E827}">
      <dgm:prSet/>
      <dgm:spPr/>
      <dgm:t>
        <a:bodyPr/>
        <a:lstStyle/>
        <a:p>
          <a:pPr>
            <a:lnSpc>
              <a:spcPct val="150000"/>
            </a:lnSpc>
            <a:buFont typeface="+mj-lt"/>
            <a:buAutoNum type="arabicPeriod"/>
          </a:pPr>
          <a:r>
            <a:rPr lang="en-US" dirty="0"/>
            <a:t>Predict probabilities and apply to the test data</a:t>
          </a:r>
        </a:p>
      </dgm:t>
    </dgm:pt>
    <dgm:pt modelId="{3FD95334-1B48-4F54-82D6-0C223F5599E2}" type="parTrans" cxnId="{1173EA29-BB2B-4DEB-8342-CBC59E968BC5}">
      <dgm:prSet/>
      <dgm:spPr/>
    </dgm:pt>
    <dgm:pt modelId="{38083592-C964-412C-9AF2-A1C51F70E80B}" type="sibTrans" cxnId="{1173EA29-BB2B-4DEB-8342-CBC59E968BC5}">
      <dgm:prSet/>
      <dgm:spPr/>
    </dgm:pt>
    <dgm:pt modelId="{378101DA-A3CE-40B5-BB19-F9CC0B8BAC4F}" type="pres">
      <dgm:prSet presAssocID="{90A490DA-6FD0-4E59-8294-F77AC0A38D82}" presName="linear" presStyleCnt="0">
        <dgm:presLayoutVars>
          <dgm:animLvl val="lvl"/>
          <dgm:resizeHandles val="exact"/>
        </dgm:presLayoutVars>
      </dgm:prSet>
      <dgm:spPr/>
    </dgm:pt>
    <dgm:pt modelId="{7BC92079-F79B-4F54-B059-9C75564BEDD5}" type="pres">
      <dgm:prSet presAssocID="{1AA4814C-7DBD-4C10-B497-8C925EB060D8}" presName="parentText" presStyleLbl="node1" presStyleIdx="0" presStyleCnt="1" custLinFactNeighborY="1640">
        <dgm:presLayoutVars>
          <dgm:chMax val="0"/>
          <dgm:bulletEnabled val="1"/>
        </dgm:presLayoutVars>
      </dgm:prSet>
      <dgm:spPr/>
    </dgm:pt>
    <dgm:pt modelId="{9407AB4F-C3B3-4BA4-B693-271BF97EDBC2}" type="pres">
      <dgm:prSet presAssocID="{1AA4814C-7DBD-4C10-B497-8C925EB060D8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997AE711-E839-4ED5-971F-4DD81B579A3E}" type="presOf" srcId="{FF997A3A-67F1-4F1E-BEFD-02FCB91E865F}" destId="{9407AB4F-C3B3-4BA4-B693-271BF97EDBC2}" srcOrd="0" destOrd="6" presId="urn:microsoft.com/office/officeart/2005/8/layout/vList2"/>
    <dgm:cxn modelId="{1588BB23-98F3-4EC8-A5E1-80AD96DC2460}" type="presOf" srcId="{09C81782-702E-49E0-9233-E8B3F647F9E4}" destId="{9407AB4F-C3B3-4BA4-B693-271BF97EDBC2}" srcOrd="0" destOrd="2" presId="urn:microsoft.com/office/officeart/2005/8/layout/vList2"/>
    <dgm:cxn modelId="{1173EA29-BB2B-4DEB-8342-CBC59E968BC5}" srcId="{1AA4814C-7DBD-4C10-B497-8C925EB060D8}" destId="{79D52FCC-AE08-4CC8-AC67-5125F1F7E827}" srcOrd="3" destOrd="0" parTransId="{3FD95334-1B48-4F54-82D6-0C223F5599E2}" sibTransId="{38083592-C964-412C-9AF2-A1C51F70E80B}"/>
    <dgm:cxn modelId="{E3E64631-CA4E-4BE4-AD51-7B3833B1DAA8}" srcId="{1AA4814C-7DBD-4C10-B497-8C925EB060D8}" destId="{1D8F1C4A-00A6-4F7A-B78A-8F0B22C0342D}" srcOrd="5" destOrd="0" parTransId="{DE069D6A-1A96-4B39-9930-7326A6B01387}" sibTransId="{85DA32C7-1C81-480C-A551-911D9AF7CCB8}"/>
    <dgm:cxn modelId="{A47DCE31-7FB7-4A75-846D-B3BB2A75339E}" type="presOf" srcId="{60D7048F-94AA-4CE3-B00F-75933D9AD670}" destId="{9407AB4F-C3B3-4BA4-B693-271BF97EDBC2}" srcOrd="0" destOrd="0" presId="urn:microsoft.com/office/officeart/2005/8/layout/vList2"/>
    <dgm:cxn modelId="{A0437F3B-084D-40D2-8363-F9A9ED1735FE}" type="presOf" srcId="{0F5F38A2-20DF-4D24-A812-7C53C9548A94}" destId="{9407AB4F-C3B3-4BA4-B693-271BF97EDBC2}" srcOrd="0" destOrd="4" presId="urn:microsoft.com/office/officeart/2005/8/layout/vList2"/>
    <dgm:cxn modelId="{5836A25C-CFAD-4068-9759-5B72A58ED0ED}" type="presOf" srcId="{90A490DA-6FD0-4E59-8294-F77AC0A38D82}" destId="{378101DA-A3CE-40B5-BB19-F9CC0B8BAC4F}" srcOrd="0" destOrd="0" presId="urn:microsoft.com/office/officeart/2005/8/layout/vList2"/>
    <dgm:cxn modelId="{6FE1695D-EC8D-47B8-AD03-7D38A8D0D0F8}" srcId="{1AA4814C-7DBD-4C10-B497-8C925EB060D8}" destId="{7FC1E76C-F2DE-4DF3-ABA8-D83FE6001FF6}" srcOrd="1" destOrd="0" parTransId="{CCE5ACDF-6137-4135-87EB-57592571631A}" sibTransId="{FD5E1966-1317-48BA-8557-E7D4027F84E3}"/>
    <dgm:cxn modelId="{BF756445-ACC7-462A-81D3-C99055F4E4BC}" type="presOf" srcId="{7FC1E76C-F2DE-4DF3-ABA8-D83FE6001FF6}" destId="{9407AB4F-C3B3-4BA4-B693-271BF97EDBC2}" srcOrd="0" destOrd="1" presId="urn:microsoft.com/office/officeart/2005/8/layout/vList2"/>
    <dgm:cxn modelId="{B539FE4B-D3B3-44CE-98F4-3341F36C8E52}" srcId="{90A490DA-6FD0-4E59-8294-F77AC0A38D82}" destId="{1AA4814C-7DBD-4C10-B497-8C925EB060D8}" srcOrd="0" destOrd="0" parTransId="{C4655571-0B83-4A21-9054-FA156CB72ED1}" sibTransId="{CD31E970-ACCE-494E-B3C7-180167CA3703}"/>
    <dgm:cxn modelId="{1A5AE27D-BB81-4DC4-BA23-A3CD97D9F34A}" srcId="{1AA4814C-7DBD-4C10-B497-8C925EB060D8}" destId="{60D7048F-94AA-4CE3-B00F-75933D9AD670}" srcOrd="0" destOrd="0" parTransId="{DA612450-5511-43B4-ADEF-552D19C0590A}" sibTransId="{01DFA305-58A4-4BBE-9013-9D34E2FBBCE1}"/>
    <dgm:cxn modelId="{FCB99AA6-2787-4A28-B206-CB86D272FBB7}" type="presOf" srcId="{1AA4814C-7DBD-4C10-B497-8C925EB060D8}" destId="{7BC92079-F79B-4F54-B059-9C75564BEDD5}" srcOrd="0" destOrd="0" presId="urn:microsoft.com/office/officeart/2005/8/layout/vList2"/>
    <dgm:cxn modelId="{FB190DB6-10FF-43C2-AF5E-0D6FD7E89B06}" srcId="{1AA4814C-7DBD-4C10-B497-8C925EB060D8}" destId="{0F5F38A2-20DF-4D24-A812-7C53C9548A94}" srcOrd="4" destOrd="0" parTransId="{249BF9A7-9E3C-4116-8976-B8405BA2920B}" sibTransId="{2F270569-B828-461B-BD0E-159F2FF12BD1}"/>
    <dgm:cxn modelId="{3686E2E4-293A-47D9-ACFC-B1038EF81BDE}" type="presOf" srcId="{79D52FCC-AE08-4CC8-AC67-5125F1F7E827}" destId="{9407AB4F-C3B3-4BA4-B693-271BF97EDBC2}" srcOrd="0" destOrd="3" presId="urn:microsoft.com/office/officeart/2005/8/layout/vList2"/>
    <dgm:cxn modelId="{0B6EC0EE-A943-4D14-A2BF-44486AE81FA7}" srcId="{1AA4814C-7DBD-4C10-B497-8C925EB060D8}" destId="{09C81782-702E-49E0-9233-E8B3F647F9E4}" srcOrd="2" destOrd="0" parTransId="{F52DCE20-97E0-4244-AC6C-60AE088C8B43}" sibTransId="{60C02124-600D-4B07-B270-5C49C36565A6}"/>
    <dgm:cxn modelId="{2886C8F2-B056-4321-9C5D-D0B86E3BF756}" type="presOf" srcId="{1D8F1C4A-00A6-4F7A-B78A-8F0B22C0342D}" destId="{9407AB4F-C3B3-4BA4-B693-271BF97EDBC2}" srcOrd="0" destOrd="5" presId="urn:microsoft.com/office/officeart/2005/8/layout/vList2"/>
    <dgm:cxn modelId="{764C7AFF-F1F3-4D87-B196-C8B9483EB479}" srcId="{1AA4814C-7DBD-4C10-B497-8C925EB060D8}" destId="{FF997A3A-67F1-4F1E-BEFD-02FCB91E865F}" srcOrd="6" destOrd="0" parTransId="{CE50C241-D1B4-41AF-A3F0-E481704CF26B}" sibTransId="{6F25FCDF-B0B6-4F6D-A5F3-FF708D6BC458}"/>
    <dgm:cxn modelId="{3BF21AB7-0A75-4EE4-B7B9-56A25114C798}" type="presParOf" srcId="{378101DA-A3CE-40B5-BB19-F9CC0B8BAC4F}" destId="{7BC92079-F79B-4F54-B059-9C75564BEDD5}" srcOrd="0" destOrd="0" presId="urn:microsoft.com/office/officeart/2005/8/layout/vList2"/>
    <dgm:cxn modelId="{C3136AA5-298C-42CA-AE37-81E8860FC0DD}" type="presParOf" srcId="{378101DA-A3CE-40B5-BB19-F9CC0B8BAC4F}" destId="{9407AB4F-C3B3-4BA4-B693-271BF97EDBC2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580CCC0-B2D8-4C2C-983C-42FC37C4CD80}" type="doc">
      <dgm:prSet loTypeId="urn:microsoft.com/office/officeart/2005/8/layout/vList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87AEDEF-95BA-42ED-9214-2082C751267B}">
      <dgm:prSet/>
      <dgm:spPr/>
      <dgm:t>
        <a:bodyPr/>
        <a:lstStyle/>
        <a:p>
          <a:r>
            <a:rPr lang="en-US"/>
            <a:t>After 0.4 threshold </a:t>
          </a:r>
        </a:p>
      </dgm:t>
    </dgm:pt>
    <dgm:pt modelId="{8B2CD366-E40D-4F93-872E-1AF8ED8E00B6}" type="parTrans" cxnId="{A1FA496C-974F-4CE7-B10B-85D12504343E}">
      <dgm:prSet/>
      <dgm:spPr/>
      <dgm:t>
        <a:bodyPr/>
        <a:lstStyle/>
        <a:p>
          <a:endParaRPr lang="en-US"/>
        </a:p>
      </dgm:t>
    </dgm:pt>
    <dgm:pt modelId="{D2527ED3-5F4A-4AC1-AC10-0081676FA834}" type="sibTrans" cxnId="{A1FA496C-974F-4CE7-B10B-85D12504343E}">
      <dgm:prSet/>
      <dgm:spPr/>
      <dgm:t>
        <a:bodyPr/>
        <a:lstStyle/>
        <a:p>
          <a:endParaRPr lang="en-US"/>
        </a:p>
      </dgm:t>
    </dgm:pt>
    <dgm:pt modelId="{CC801F00-8BBD-4EBD-9856-CCDA63ECF328}" type="pres">
      <dgm:prSet presAssocID="{5580CCC0-B2D8-4C2C-983C-42FC37C4CD80}" presName="linear" presStyleCnt="0">
        <dgm:presLayoutVars>
          <dgm:animLvl val="lvl"/>
          <dgm:resizeHandles val="exact"/>
        </dgm:presLayoutVars>
      </dgm:prSet>
      <dgm:spPr/>
    </dgm:pt>
    <dgm:pt modelId="{19D93EEC-D2B0-406A-943C-B4036151979E}" type="pres">
      <dgm:prSet presAssocID="{687AEDEF-95BA-42ED-9214-2082C751267B}" presName="parentText" presStyleLbl="node1" presStyleIdx="0" presStyleCnt="1" custScaleX="79274" custLinFactNeighborX="-6200">
        <dgm:presLayoutVars>
          <dgm:chMax val="0"/>
          <dgm:bulletEnabled val="1"/>
        </dgm:presLayoutVars>
      </dgm:prSet>
      <dgm:spPr/>
    </dgm:pt>
  </dgm:ptLst>
  <dgm:cxnLst>
    <dgm:cxn modelId="{A1FA496C-974F-4CE7-B10B-85D12504343E}" srcId="{5580CCC0-B2D8-4C2C-983C-42FC37C4CD80}" destId="{687AEDEF-95BA-42ED-9214-2082C751267B}" srcOrd="0" destOrd="0" parTransId="{8B2CD366-E40D-4F93-872E-1AF8ED8E00B6}" sibTransId="{D2527ED3-5F4A-4AC1-AC10-0081676FA834}"/>
    <dgm:cxn modelId="{05CD135A-3D6C-4D1E-8888-0217722F033E}" type="presOf" srcId="{5580CCC0-B2D8-4C2C-983C-42FC37C4CD80}" destId="{CC801F00-8BBD-4EBD-9856-CCDA63ECF328}" srcOrd="0" destOrd="0" presId="urn:microsoft.com/office/officeart/2005/8/layout/vList2"/>
    <dgm:cxn modelId="{533FCBB5-5C94-46DD-B71F-5CCC08DEE451}" type="presOf" srcId="{687AEDEF-95BA-42ED-9214-2082C751267B}" destId="{19D93EEC-D2B0-406A-943C-B4036151979E}" srcOrd="0" destOrd="0" presId="urn:microsoft.com/office/officeart/2005/8/layout/vList2"/>
    <dgm:cxn modelId="{CAB5229A-4D22-4B03-A7B1-4E9E8774A5DF}" type="presParOf" srcId="{CC801F00-8BBD-4EBD-9856-CCDA63ECF328}" destId="{19D93EEC-D2B0-406A-943C-B4036151979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5805F1B-326F-49BF-983E-08647F5B792A}" type="doc">
      <dgm:prSet loTypeId="urn:microsoft.com/office/officeart/2005/8/layout/vList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8D73BD3-C359-4703-B787-B1E4E90AD1F6}">
      <dgm:prSet/>
      <dgm:spPr/>
      <dgm:t>
        <a:bodyPr/>
        <a:lstStyle/>
        <a:p>
          <a:r>
            <a:rPr lang="en-US"/>
            <a:t>With 0.5 threshold </a:t>
          </a:r>
        </a:p>
      </dgm:t>
    </dgm:pt>
    <dgm:pt modelId="{2A45B003-B49E-48D8-8B72-787791650EFD}" type="parTrans" cxnId="{8FEC33C7-83C3-4F7C-A453-9DDCFA437EAB}">
      <dgm:prSet/>
      <dgm:spPr/>
      <dgm:t>
        <a:bodyPr/>
        <a:lstStyle/>
        <a:p>
          <a:endParaRPr lang="en-US"/>
        </a:p>
      </dgm:t>
    </dgm:pt>
    <dgm:pt modelId="{5DDF2D62-3CFE-4CAA-978F-06BEF01702AE}" type="sibTrans" cxnId="{8FEC33C7-83C3-4F7C-A453-9DDCFA437EAB}">
      <dgm:prSet/>
      <dgm:spPr/>
      <dgm:t>
        <a:bodyPr/>
        <a:lstStyle/>
        <a:p>
          <a:endParaRPr lang="en-US"/>
        </a:p>
      </dgm:t>
    </dgm:pt>
    <dgm:pt modelId="{5333511D-9987-4646-8BB6-564DFCC07A9E}" type="pres">
      <dgm:prSet presAssocID="{75805F1B-326F-49BF-983E-08647F5B792A}" presName="linear" presStyleCnt="0">
        <dgm:presLayoutVars>
          <dgm:animLvl val="lvl"/>
          <dgm:resizeHandles val="exact"/>
        </dgm:presLayoutVars>
      </dgm:prSet>
      <dgm:spPr/>
    </dgm:pt>
    <dgm:pt modelId="{B0C56FD8-0068-4630-957D-70AF5ABEC38C}" type="pres">
      <dgm:prSet presAssocID="{88D73BD3-C359-4703-B787-B1E4E90AD1F6}" presName="parentText" presStyleLbl="node1" presStyleIdx="0" presStyleCnt="1" custScaleX="92487" custLinFactNeighborX="1045" custLinFactNeighborY="-6686">
        <dgm:presLayoutVars>
          <dgm:chMax val="0"/>
          <dgm:bulletEnabled val="1"/>
        </dgm:presLayoutVars>
      </dgm:prSet>
      <dgm:spPr/>
    </dgm:pt>
  </dgm:ptLst>
  <dgm:cxnLst>
    <dgm:cxn modelId="{28EDEC04-5587-48F8-90AB-E76B91C2CD60}" type="presOf" srcId="{88D73BD3-C359-4703-B787-B1E4E90AD1F6}" destId="{B0C56FD8-0068-4630-957D-70AF5ABEC38C}" srcOrd="0" destOrd="0" presId="urn:microsoft.com/office/officeart/2005/8/layout/vList2"/>
    <dgm:cxn modelId="{A8D76A08-E778-4560-A795-0C25D6EC1CEB}" type="presOf" srcId="{75805F1B-326F-49BF-983E-08647F5B792A}" destId="{5333511D-9987-4646-8BB6-564DFCC07A9E}" srcOrd="0" destOrd="0" presId="urn:microsoft.com/office/officeart/2005/8/layout/vList2"/>
    <dgm:cxn modelId="{8FEC33C7-83C3-4F7C-A453-9DDCFA437EAB}" srcId="{75805F1B-326F-49BF-983E-08647F5B792A}" destId="{88D73BD3-C359-4703-B787-B1E4E90AD1F6}" srcOrd="0" destOrd="0" parTransId="{2A45B003-B49E-48D8-8B72-787791650EFD}" sibTransId="{5DDF2D62-3CFE-4CAA-978F-06BEF01702AE}"/>
    <dgm:cxn modelId="{205EC1FA-6AA9-4C3D-A640-B5931B9D461D}" type="presParOf" srcId="{5333511D-9987-4646-8BB6-564DFCC07A9E}" destId="{B0C56FD8-0068-4630-957D-70AF5ABEC38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EA000F3-89E2-4A3C-91DE-DBF0C2287B0F}" type="doc">
      <dgm:prSet loTypeId="urn:microsoft.com/office/officeart/2005/8/layout/vList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3C43D16-BBF3-4E02-A26F-D9B7EDCD04CD}">
      <dgm:prSet/>
      <dgm:spPr/>
      <dgm:t>
        <a:bodyPr/>
        <a:lstStyle/>
        <a:p>
          <a:r>
            <a:rPr lang="en-US"/>
            <a:t>To summarize </a:t>
          </a:r>
        </a:p>
      </dgm:t>
    </dgm:pt>
    <dgm:pt modelId="{584FC9A9-5DFF-45F3-AE20-723AE4A53235}" type="parTrans" cxnId="{BF77890C-BF8A-4F4E-AC17-C69AA68E1E16}">
      <dgm:prSet/>
      <dgm:spPr/>
      <dgm:t>
        <a:bodyPr/>
        <a:lstStyle/>
        <a:p>
          <a:endParaRPr lang="en-US"/>
        </a:p>
      </dgm:t>
    </dgm:pt>
    <dgm:pt modelId="{9F626793-EFB8-4755-BD9E-39EE7CB0E9BE}" type="sibTrans" cxnId="{BF77890C-BF8A-4F4E-AC17-C69AA68E1E16}">
      <dgm:prSet/>
      <dgm:spPr/>
      <dgm:t>
        <a:bodyPr/>
        <a:lstStyle/>
        <a:p>
          <a:endParaRPr lang="en-US"/>
        </a:p>
      </dgm:t>
    </dgm:pt>
    <dgm:pt modelId="{C2E2E826-E7AF-4219-AA46-46F248887DA3}" type="pres">
      <dgm:prSet presAssocID="{3EA000F3-89E2-4A3C-91DE-DBF0C2287B0F}" presName="linear" presStyleCnt="0">
        <dgm:presLayoutVars>
          <dgm:animLvl val="lvl"/>
          <dgm:resizeHandles val="exact"/>
        </dgm:presLayoutVars>
      </dgm:prSet>
      <dgm:spPr/>
    </dgm:pt>
    <dgm:pt modelId="{5B88F2AF-9C14-44F1-BDB6-FBA7F2484ABA}" type="pres">
      <dgm:prSet presAssocID="{A3C43D16-BBF3-4E02-A26F-D9B7EDCD04CD}" presName="parentText" presStyleLbl="node1" presStyleIdx="0" presStyleCnt="1" custScaleX="78223" custLinFactNeighborX="-9168" custLinFactNeighborY="10375">
        <dgm:presLayoutVars>
          <dgm:chMax val="0"/>
          <dgm:bulletEnabled val="1"/>
        </dgm:presLayoutVars>
      </dgm:prSet>
      <dgm:spPr/>
    </dgm:pt>
  </dgm:ptLst>
  <dgm:cxnLst>
    <dgm:cxn modelId="{BF77890C-BF8A-4F4E-AC17-C69AA68E1E16}" srcId="{3EA000F3-89E2-4A3C-91DE-DBF0C2287B0F}" destId="{A3C43D16-BBF3-4E02-A26F-D9B7EDCD04CD}" srcOrd="0" destOrd="0" parTransId="{584FC9A9-5DFF-45F3-AE20-723AE4A53235}" sibTransId="{9F626793-EFB8-4755-BD9E-39EE7CB0E9BE}"/>
    <dgm:cxn modelId="{FC6E0C36-5E8B-4450-802E-6EEF77AFD58C}" type="presOf" srcId="{3EA000F3-89E2-4A3C-91DE-DBF0C2287B0F}" destId="{C2E2E826-E7AF-4219-AA46-46F248887DA3}" srcOrd="0" destOrd="0" presId="urn:microsoft.com/office/officeart/2005/8/layout/vList2"/>
    <dgm:cxn modelId="{04E126F9-AC25-4AC9-AD3F-F6BCD6112AA6}" type="presOf" srcId="{A3C43D16-BBF3-4E02-A26F-D9B7EDCD04CD}" destId="{5B88F2AF-9C14-44F1-BDB6-FBA7F2484ABA}" srcOrd="0" destOrd="0" presId="urn:microsoft.com/office/officeart/2005/8/layout/vList2"/>
    <dgm:cxn modelId="{29E80E1B-F6E3-4B7C-BF08-DC6956F6C187}" type="presParOf" srcId="{C2E2E826-E7AF-4219-AA46-46F248887DA3}" destId="{5B88F2AF-9C14-44F1-BDB6-FBA7F2484ABA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A8A87F-EA45-4120-AB0D-2B52198A9F2F}">
      <dsp:nvSpPr>
        <dsp:cNvPr id="0" name=""/>
        <dsp:cNvSpPr/>
      </dsp:nvSpPr>
      <dsp:spPr>
        <a:xfrm>
          <a:off x="0" y="3088"/>
          <a:ext cx="3689964" cy="4247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noFill/>
          <a:prstDash val="solid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Final model regression summary after removing non-significant variables </a:t>
          </a:r>
        </a:p>
      </dsp:txBody>
      <dsp:txXfrm>
        <a:off x="20733" y="23821"/>
        <a:ext cx="3648498" cy="3832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157E69-288D-463F-89EF-BB3BA04A69C4}">
      <dsp:nvSpPr>
        <dsp:cNvPr id="0" name=""/>
        <dsp:cNvSpPr/>
      </dsp:nvSpPr>
      <dsp:spPr>
        <a:xfrm>
          <a:off x="0" y="0"/>
          <a:ext cx="3235458" cy="430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noFill/>
          <a:prstDash val="solid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Initial model regression summary. </a:t>
          </a:r>
        </a:p>
      </dsp:txBody>
      <dsp:txXfrm>
        <a:off x="21018" y="21018"/>
        <a:ext cx="3193422" cy="3885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FFD2CF-F25C-4055-A7D7-6C078E40B16F}">
      <dsp:nvSpPr>
        <dsp:cNvPr id="0" name=""/>
        <dsp:cNvSpPr/>
      </dsp:nvSpPr>
      <dsp:spPr>
        <a:xfrm>
          <a:off x="88029" y="14285"/>
          <a:ext cx="3776790" cy="6177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1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Comments on our expectations bases on regression summary   </a:t>
          </a:r>
        </a:p>
      </dsp:txBody>
      <dsp:txXfrm>
        <a:off x="118186" y="44442"/>
        <a:ext cx="3716476" cy="55744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4D8D24-7B83-4583-BFDB-87319736B281}">
      <dsp:nvSpPr>
        <dsp:cNvPr id="0" name=""/>
        <dsp:cNvSpPr/>
      </dsp:nvSpPr>
      <dsp:spPr>
        <a:xfrm>
          <a:off x="0" y="9799"/>
          <a:ext cx="3514573" cy="2574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1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Reasons why we expected above signs</a:t>
          </a:r>
          <a:endParaRPr lang="en-US" sz="1100" kern="1200"/>
        </a:p>
      </dsp:txBody>
      <dsp:txXfrm>
        <a:off x="12565" y="22364"/>
        <a:ext cx="3489443" cy="23227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C92079-F79B-4F54-B059-9C75564BEDD5}">
      <dsp:nvSpPr>
        <dsp:cNvPr id="0" name=""/>
        <dsp:cNvSpPr/>
      </dsp:nvSpPr>
      <dsp:spPr>
        <a:xfrm>
          <a:off x="0" y="161898"/>
          <a:ext cx="8038707" cy="49139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1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Summarized procedures are below:</a:t>
          </a:r>
        </a:p>
      </dsp:txBody>
      <dsp:txXfrm>
        <a:off x="23988" y="185886"/>
        <a:ext cx="7990731" cy="443423"/>
      </dsp:txXfrm>
    </dsp:sp>
    <dsp:sp modelId="{9407AB4F-C3B3-4BA4-B693-271BF97EDBC2}">
      <dsp:nvSpPr>
        <dsp:cNvPr id="0" name=""/>
        <dsp:cNvSpPr/>
      </dsp:nvSpPr>
      <dsp:spPr>
        <a:xfrm>
          <a:off x="0" y="607671"/>
          <a:ext cx="8038707" cy="2782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5229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15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en-US" sz="1600" kern="1200" dirty="0"/>
            <a:t>Define the test and train set and split into train and test sets.</a:t>
          </a:r>
        </a:p>
        <a:p>
          <a:pPr marL="171450" lvl="1" indent="-171450" algn="l" defTabSz="711200">
            <a:lnSpc>
              <a:spcPct val="15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en-US" sz="1600" kern="1200" dirty="0"/>
            <a:t>Define the model using logistic regression </a:t>
          </a:r>
        </a:p>
        <a:p>
          <a:pPr marL="171450" lvl="1" indent="-171450" algn="l" defTabSz="711200">
            <a:lnSpc>
              <a:spcPct val="15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en-US" sz="1600" kern="1200" dirty="0"/>
            <a:t>Fit the model on the training dataset </a:t>
          </a:r>
        </a:p>
        <a:p>
          <a:pPr marL="171450" lvl="1" indent="-171450" algn="l" defTabSz="711200">
            <a:lnSpc>
              <a:spcPct val="15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en-US" sz="1600" kern="1200" dirty="0"/>
            <a:t>Predict probabilities and apply to the test data</a:t>
          </a:r>
        </a:p>
        <a:p>
          <a:pPr marL="171450" lvl="1" indent="-171450" algn="l" defTabSz="711200">
            <a:lnSpc>
              <a:spcPct val="15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en-US" sz="1600" kern="1200" dirty="0"/>
            <a:t>Calculate the confusion matrix </a:t>
          </a:r>
        </a:p>
        <a:p>
          <a:pPr marL="171450" lvl="1" indent="-171450" algn="l" defTabSz="711200">
            <a:lnSpc>
              <a:spcPct val="15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en-US" sz="1600" kern="1200" dirty="0"/>
            <a:t>Get Accuracy</a:t>
          </a:r>
        </a:p>
        <a:p>
          <a:pPr marL="171450" lvl="1" indent="-171450" algn="l" defTabSz="711200">
            <a:lnSpc>
              <a:spcPct val="15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en-US" sz="1600" kern="1200" dirty="0"/>
            <a:t>Improve the model by using ROC curves to get thresholds </a:t>
          </a:r>
        </a:p>
      </dsp:txBody>
      <dsp:txXfrm>
        <a:off x="0" y="607671"/>
        <a:ext cx="8038707" cy="278208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D93EEC-D2B0-406A-943C-B4036151979E}">
      <dsp:nvSpPr>
        <dsp:cNvPr id="0" name=""/>
        <dsp:cNvSpPr/>
      </dsp:nvSpPr>
      <dsp:spPr>
        <a:xfrm>
          <a:off x="91155" y="6110"/>
          <a:ext cx="1735823" cy="2340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1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After 0.4 threshold </a:t>
          </a:r>
        </a:p>
      </dsp:txBody>
      <dsp:txXfrm>
        <a:off x="102578" y="17533"/>
        <a:ext cx="1712977" cy="21115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C56FD8-0068-4630-957D-70AF5ABEC38C}">
      <dsp:nvSpPr>
        <dsp:cNvPr id="0" name=""/>
        <dsp:cNvSpPr/>
      </dsp:nvSpPr>
      <dsp:spPr>
        <a:xfrm>
          <a:off x="101234" y="0"/>
          <a:ext cx="1949982" cy="2340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1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With 0.5 threshold </a:t>
          </a:r>
        </a:p>
      </dsp:txBody>
      <dsp:txXfrm>
        <a:off x="112657" y="11423"/>
        <a:ext cx="1927136" cy="21115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88F2AF-9C14-44F1-BDB6-FBA7F2484ABA}">
      <dsp:nvSpPr>
        <dsp:cNvPr id="0" name=""/>
        <dsp:cNvSpPr/>
      </dsp:nvSpPr>
      <dsp:spPr>
        <a:xfrm>
          <a:off x="73893" y="18332"/>
          <a:ext cx="3359606" cy="3510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1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To summarize </a:t>
          </a:r>
        </a:p>
      </dsp:txBody>
      <dsp:txXfrm>
        <a:off x="91027" y="35466"/>
        <a:ext cx="3325338" cy="3167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69721-F543-4A6C-BF9D-65D7CC540427}" type="datetimeFigureOut">
              <a:rPr lang="en-US" smtClean="0"/>
              <a:t>4/4/2022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0168E-626C-4E60-93C0-A00D256094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2326A-4C88-4AFB-AA5B-5919D81DFF5B}" type="datetimeFigureOut">
              <a:rPr lang="en-US" smtClean="0"/>
              <a:t>4/4/2022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3AB32-59DF-41F1-9618-EDFBF50496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4/4/2022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4/4/2022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4/4/2022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diagramData" Target="../diagrams/data3.xml"/><Relationship Id="rId18" Type="http://schemas.openxmlformats.org/officeDocument/2006/relationships/diagramData" Target="../diagrams/data4.xml"/><Relationship Id="rId3" Type="http://schemas.openxmlformats.org/officeDocument/2006/relationships/diagramData" Target="../diagrams/data1.xml"/><Relationship Id="rId21" Type="http://schemas.openxmlformats.org/officeDocument/2006/relationships/diagramColors" Target="../diagrams/colors4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17" Type="http://schemas.microsoft.com/office/2007/relationships/diagramDrawing" Target="../diagrams/drawing3.xml"/><Relationship Id="rId2" Type="http://schemas.openxmlformats.org/officeDocument/2006/relationships/image" Target="../media/image2.png"/><Relationship Id="rId16" Type="http://schemas.openxmlformats.org/officeDocument/2006/relationships/diagramColors" Target="../diagrams/colors3.xml"/><Relationship Id="rId20" Type="http://schemas.openxmlformats.org/officeDocument/2006/relationships/diagramQuickStyle" Target="../diagrams/quickStyle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5" Type="http://schemas.openxmlformats.org/officeDocument/2006/relationships/diagramQuickStyle" Target="../diagrams/quickStyle3.xml"/><Relationship Id="rId23" Type="http://schemas.openxmlformats.org/officeDocument/2006/relationships/image" Target="../media/image3.png"/><Relationship Id="rId10" Type="http://schemas.openxmlformats.org/officeDocument/2006/relationships/diagramQuickStyle" Target="../diagrams/quickStyle2.xml"/><Relationship Id="rId19" Type="http://schemas.openxmlformats.org/officeDocument/2006/relationships/diagramLayout" Target="../diagrams/layout4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Relationship Id="rId14" Type="http://schemas.openxmlformats.org/officeDocument/2006/relationships/diagramLayout" Target="../diagrams/layout3.xml"/><Relationship Id="rId22" Type="http://schemas.microsoft.com/office/2007/relationships/diagramDrawing" Target="../diagrams/drawin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microsoft.com/office/2007/relationships/diagramDrawing" Target="../diagrams/drawing7.xml"/><Relationship Id="rId18" Type="http://schemas.openxmlformats.org/officeDocument/2006/relationships/diagramColors" Target="../diagrams/colors8.xml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12" Type="http://schemas.openxmlformats.org/officeDocument/2006/relationships/diagramColors" Target="../diagrams/colors7.xml"/><Relationship Id="rId17" Type="http://schemas.openxmlformats.org/officeDocument/2006/relationships/diagramQuickStyle" Target="../diagrams/quickStyle8.xml"/><Relationship Id="rId2" Type="http://schemas.openxmlformats.org/officeDocument/2006/relationships/image" Target="../media/image4.png"/><Relationship Id="rId16" Type="http://schemas.openxmlformats.org/officeDocument/2006/relationships/diagramLayout" Target="../diagrams/layout8.xml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6.xml"/><Relationship Id="rId11" Type="http://schemas.openxmlformats.org/officeDocument/2006/relationships/diagramQuickStyle" Target="../diagrams/quickStyle7.xml"/><Relationship Id="rId5" Type="http://schemas.openxmlformats.org/officeDocument/2006/relationships/diagramQuickStyle" Target="../diagrams/quickStyle6.xml"/><Relationship Id="rId15" Type="http://schemas.openxmlformats.org/officeDocument/2006/relationships/diagramData" Target="../diagrams/data8.xml"/><Relationship Id="rId10" Type="http://schemas.openxmlformats.org/officeDocument/2006/relationships/diagramLayout" Target="../diagrams/layout7.xml"/><Relationship Id="rId19" Type="http://schemas.microsoft.com/office/2007/relationships/diagramDrawing" Target="../diagrams/drawing8.xml"/><Relationship Id="rId4" Type="http://schemas.openxmlformats.org/officeDocument/2006/relationships/diagramLayout" Target="../diagrams/layout6.xml"/><Relationship Id="rId9" Type="http://schemas.openxmlformats.org/officeDocument/2006/relationships/diagramData" Target="../diagrams/data7.xml"/><Relationship Id="rId1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Digital Connection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>
            <a:no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Applied Machine Learning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395524"/>
            <a:ext cx="10993546" cy="89524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HW_2_classification_logit_HR_data</a:t>
            </a:r>
          </a:p>
          <a:p>
            <a:r>
              <a:rPr lang="en-US" b="1" dirty="0">
                <a:solidFill>
                  <a:schemeClr val="bg1"/>
                </a:solidFill>
              </a:rPr>
              <a:t>Group 02 - Alpha Team</a:t>
            </a:r>
          </a:p>
          <a:p>
            <a:endParaRPr lang="en-US" dirty="0">
              <a:solidFill>
                <a:srgbClr val="7CEB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E7C68-31F5-434F-B017-70C0FF683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580" y="739436"/>
            <a:ext cx="11029616" cy="716754"/>
          </a:xfrm>
        </p:spPr>
        <p:txBody>
          <a:bodyPr>
            <a:normAutofit/>
          </a:bodyPr>
          <a:lstStyle/>
          <a:p>
            <a:r>
              <a:rPr lang="en-US" dirty="0"/>
              <a:t>State what parameters sign You Expect ?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B9A363C8-CAC6-4CEE-8079-5573D50312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5264380"/>
              </p:ext>
            </p:extLst>
          </p:nvPr>
        </p:nvGraphicFramePr>
        <p:xfrm>
          <a:off x="445777" y="1804669"/>
          <a:ext cx="9415400" cy="49541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155">
                  <a:extLst>
                    <a:ext uri="{9D8B030D-6E8A-4147-A177-3AD203B41FA5}">
                      <a16:colId xmlns:a16="http://schemas.microsoft.com/office/drawing/2014/main" val="844986754"/>
                    </a:ext>
                  </a:extLst>
                </a:gridCol>
                <a:gridCol w="1737348">
                  <a:extLst>
                    <a:ext uri="{9D8B030D-6E8A-4147-A177-3AD203B41FA5}">
                      <a16:colId xmlns:a16="http://schemas.microsoft.com/office/drawing/2014/main" val="1528867378"/>
                    </a:ext>
                  </a:extLst>
                </a:gridCol>
                <a:gridCol w="1579896">
                  <a:extLst>
                    <a:ext uri="{9D8B030D-6E8A-4147-A177-3AD203B41FA5}">
                      <a16:colId xmlns:a16="http://schemas.microsoft.com/office/drawing/2014/main" val="2176405041"/>
                    </a:ext>
                  </a:extLst>
                </a:gridCol>
                <a:gridCol w="5682001">
                  <a:extLst>
                    <a:ext uri="{9D8B030D-6E8A-4147-A177-3AD203B41FA5}">
                      <a16:colId xmlns:a16="http://schemas.microsoft.com/office/drawing/2014/main" val="3925582731"/>
                    </a:ext>
                  </a:extLst>
                </a:gridCol>
              </a:tblGrid>
              <a:tr h="511637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No.</a:t>
                      </a:r>
                    </a:p>
                  </a:txBody>
                  <a:tcPr marL="58417" marR="58417" marT="29209" marB="2920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Parameters(Variables )</a:t>
                      </a:r>
                    </a:p>
                  </a:txBody>
                  <a:tcPr marL="58417" marR="58417" marT="29209" marB="2920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Sign we expected.</a:t>
                      </a:r>
                    </a:p>
                    <a:p>
                      <a:pPr algn="ctr"/>
                      <a:r>
                        <a:rPr lang="en-US" sz="1100" dirty="0"/>
                        <a:t>Positive(+), Negative(-)</a:t>
                      </a:r>
                    </a:p>
                  </a:txBody>
                  <a:tcPr marL="58417" marR="58417" marT="29209" marB="2920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Explanation  </a:t>
                      </a:r>
                    </a:p>
                  </a:txBody>
                  <a:tcPr marL="58417" marR="58417" marT="29209" marB="29209"/>
                </a:tc>
                <a:extLst>
                  <a:ext uri="{0D108BD9-81ED-4DB2-BD59-A6C34878D82A}">
                    <a16:rowId xmlns:a16="http://schemas.microsoft.com/office/drawing/2014/main" val="2992849173"/>
                  </a:ext>
                </a:extLst>
              </a:tr>
              <a:tr h="206043">
                <a:tc>
                  <a:txBody>
                    <a:bodyPr/>
                    <a:lstStyle/>
                    <a:p>
                      <a:r>
                        <a:rPr lang="en-US" sz="1100" b="0" dirty="0"/>
                        <a:t>1</a:t>
                      </a:r>
                    </a:p>
                  </a:txBody>
                  <a:tcPr marL="58417" marR="58417" marT="29209" marB="2920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satisfaction_level</a:t>
                      </a:r>
                      <a:endParaRPr lang="en-US" sz="1100" b="0" dirty="0"/>
                    </a:p>
                  </a:txBody>
                  <a:tcPr marL="58417" marR="58417" marT="29209" marB="29209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-</a:t>
                      </a:r>
                    </a:p>
                  </a:txBody>
                  <a:tcPr marL="58417" marR="58417" marT="29209" marB="2920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/>
                        <a:t>More satisfaction level will decreases leaving the company. </a:t>
                      </a:r>
                    </a:p>
                  </a:txBody>
                  <a:tcPr marL="58417" marR="58417" marT="29209" marB="29209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579325"/>
                  </a:ext>
                </a:extLst>
              </a:tr>
              <a:tr h="234680">
                <a:tc>
                  <a:txBody>
                    <a:bodyPr/>
                    <a:lstStyle/>
                    <a:p>
                      <a:r>
                        <a:rPr lang="en-US" sz="1100" dirty="0"/>
                        <a:t>2</a:t>
                      </a:r>
                    </a:p>
                  </a:txBody>
                  <a:tcPr marL="58417" marR="58417" marT="29209" marB="2920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last_evaluation</a:t>
                      </a:r>
                    </a:p>
                  </a:txBody>
                  <a:tcPr marL="58417" marR="58417" marT="29209" marB="29209">
                    <a:solidFill>
                      <a:srgbClr val="B64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+</a:t>
                      </a:r>
                    </a:p>
                  </a:txBody>
                  <a:tcPr marL="58417" marR="58417" marT="29209" marB="2920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/>
                        <a:t>If there is high evaluation it increases the likelihood of leaving the company  </a:t>
                      </a:r>
                    </a:p>
                  </a:txBody>
                  <a:tcPr marL="58417" marR="58417" marT="29209" marB="29209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1990671"/>
                  </a:ext>
                </a:extLst>
              </a:tr>
              <a:tr h="234680"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 marL="58417" marR="58417" marT="29209" marB="2920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number_project</a:t>
                      </a:r>
                    </a:p>
                  </a:txBody>
                  <a:tcPr marL="58417" marR="58417" marT="29209" marB="29209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-</a:t>
                      </a:r>
                    </a:p>
                  </a:txBody>
                  <a:tcPr marL="58417" marR="58417" marT="29209" marB="2920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/>
                        <a:t>The more the number of projects in the company the more employees leave the company.</a:t>
                      </a:r>
                    </a:p>
                  </a:txBody>
                  <a:tcPr marL="58417" marR="58417" marT="29209" marB="29209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110745"/>
                  </a:ext>
                </a:extLst>
              </a:tr>
              <a:tr h="234680">
                <a:tc>
                  <a:txBody>
                    <a:bodyPr/>
                    <a:lstStyle/>
                    <a:p>
                      <a:r>
                        <a:rPr lang="en-US" sz="1100" dirty="0"/>
                        <a:t>4</a:t>
                      </a:r>
                    </a:p>
                  </a:txBody>
                  <a:tcPr marL="58417" marR="58417" marT="29209" marB="2920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average_montly_hours</a:t>
                      </a:r>
                    </a:p>
                  </a:txBody>
                  <a:tcPr marL="58417" marR="58417" marT="29209" marB="29209">
                    <a:solidFill>
                      <a:srgbClr val="B64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+</a:t>
                      </a:r>
                    </a:p>
                  </a:txBody>
                  <a:tcPr marL="58417" marR="58417" marT="29209" marB="2920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/>
                        <a:t>If this is high employees will increase the likelihood of leaving the company.</a:t>
                      </a:r>
                    </a:p>
                  </a:txBody>
                  <a:tcPr marL="58417" marR="58417" marT="29209" marB="29209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6402858"/>
                  </a:ext>
                </a:extLst>
              </a:tr>
              <a:tr h="2543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dirty="0">
                          <a:effectLst/>
                        </a:rPr>
                        <a:t>5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dirty="0">
                          <a:effectLst/>
                        </a:rPr>
                        <a:t>time_spend_company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58417" marR="58417" marT="29209" marB="2920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/>
                    </a:p>
                  </a:txBody>
                  <a:tcPr marL="58417" marR="58417" marT="29209" marB="29209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804392"/>
                  </a:ext>
                </a:extLst>
              </a:tr>
              <a:tr h="23614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dirty="0">
                          <a:effectLst/>
                        </a:rPr>
                        <a:t>6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dirty="0">
                          <a:effectLst/>
                        </a:rPr>
                        <a:t>Work_accident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-</a:t>
                      </a:r>
                    </a:p>
                  </a:txBody>
                  <a:tcPr marL="58417" marR="58417" marT="29209" marB="2920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/>
                        <a:t>If there is high work accident this will increase the likelihood of leaving the company.</a:t>
                      </a:r>
                    </a:p>
                  </a:txBody>
                  <a:tcPr marL="58417" marR="58417" marT="29209" marB="29209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2291346"/>
                  </a:ext>
                </a:extLst>
              </a:tr>
              <a:tr h="234680">
                <a:tc>
                  <a:txBody>
                    <a:bodyPr/>
                    <a:lstStyle/>
                    <a:p>
                      <a:r>
                        <a:rPr lang="en-US" sz="1100" dirty="0"/>
                        <a:t>7</a:t>
                      </a:r>
                    </a:p>
                  </a:txBody>
                  <a:tcPr marL="58417" marR="58417" marT="29209" marB="2920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promotion_last_5years</a:t>
                      </a:r>
                    </a:p>
                  </a:txBody>
                  <a:tcPr marL="58417" marR="58417" marT="29209" marB="29209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-</a:t>
                      </a:r>
                    </a:p>
                  </a:txBody>
                  <a:tcPr marL="58417" marR="58417" marT="29209" marB="2920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/>
                        <a:t>If there is a high promotion in company the employees tends to stay.</a:t>
                      </a:r>
                    </a:p>
                  </a:txBody>
                  <a:tcPr marL="58417" marR="58417" marT="29209" marB="29209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15859"/>
                  </a:ext>
                </a:extLst>
              </a:tr>
              <a:tr h="23614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dirty="0">
                          <a:effectLst/>
                        </a:rPr>
                        <a:t>8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dirty="0">
                          <a:effectLst/>
                        </a:rPr>
                        <a:t>job_IT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-</a:t>
                      </a:r>
                    </a:p>
                  </a:txBody>
                  <a:tcPr marL="58417" marR="58417" marT="29209" marB="2920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/>
                        <a:t>More IT jobs will decrease the likelihood of leaving the company.  </a:t>
                      </a:r>
                    </a:p>
                  </a:txBody>
                  <a:tcPr marL="58417" marR="58417" marT="29209" marB="29209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7928106"/>
                  </a:ext>
                </a:extLst>
              </a:tr>
              <a:tr h="234680">
                <a:tc>
                  <a:txBody>
                    <a:bodyPr/>
                    <a:lstStyle/>
                    <a:p>
                      <a:r>
                        <a:rPr lang="en-US" sz="1100" dirty="0"/>
                        <a:t>9</a:t>
                      </a:r>
                    </a:p>
                  </a:txBody>
                  <a:tcPr marL="58417" marR="58417" marT="29209" marB="2920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job_RandD</a:t>
                      </a:r>
                    </a:p>
                  </a:txBody>
                  <a:tcPr marL="58417" marR="58417" marT="29209" marB="29209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-</a:t>
                      </a:r>
                    </a:p>
                  </a:txBody>
                  <a:tcPr marL="58417" marR="58417" marT="29209" marB="2920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More management jobs will decrease the likelihood of leaving the company.</a:t>
                      </a:r>
                    </a:p>
                  </a:txBody>
                  <a:tcPr marL="58417" marR="58417" marT="29209" marB="29209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807219"/>
                  </a:ext>
                </a:extLst>
              </a:tr>
              <a:tr h="234680">
                <a:tc>
                  <a:txBody>
                    <a:bodyPr/>
                    <a:lstStyle/>
                    <a:p>
                      <a:r>
                        <a:rPr lang="en-US" sz="1100" dirty="0"/>
                        <a:t>10</a:t>
                      </a:r>
                    </a:p>
                  </a:txBody>
                  <a:tcPr marL="58417" marR="58417" marT="29209" marB="2920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job_accounting</a:t>
                      </a:r>
                    </a:p>
                  </a:txBody>
                  <a:tcPr marL="58417" marR="58417" marT="29209" marB="29209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-</a:t>
                      </a:r>
                    </a:p>
                  </a:txBody>
                  <a:tcPr marL="58417" marR="58417" marT="29209" marB="2920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More management jobs will decrease the likelihood of leaving the company.</a:t>
                      </a:r>
                    </a:p>
                  </a:txBody>
                  <a:tcPr marL="58417" marR="58417" marT="29209" marB="29209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0937485"/>
                  </a:ext>
                </a:extLst>
              </a:tr>
              <a:tr h="234680">
                <a:tc>
                  <a:txBody>
                    <a:bodyPr/>
                    <a:lstStyle/>
                    <a:p>
                      <a:r>
                        <a:rPr lang="en-US" sz="1100" dirty="0"/>
                        <a:t>11</a:t>
                      </a:r>
                    </a:p>
                  </a:txBody>
                  <a:tcPr marL="58417" marR="58417" marT="29209" marB="2920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job_hr</a:t>
                      </a:r>
                    </a:p>
                  </a:txBody>
                  <a:tcPr marL="58417" marR="58417" marT="29209" marB="29209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-</a:t>
                      </a:r>
                    </a:p>
                  </a:txBody>
                  <a:tcPr marL="58417" marR="58417" marT="29209" marB="2920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More management jobs will decrease the likelihood of leaving the company.</a:t>
                      </a:r>
                    </a:p>
                  </a:txBody>
                  <a:tcPr marL="58417" marR="58417" marT="29209" marB="29209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1823495"/>
                  </a:ext>
                </a:extLst>
              </a:tr>
              <a:tr h="234680">
                <a:tc>
                  <a:txBody>
                    <a:bodyPr/>
                    <a:lstStyle/>
                    <a:p>
                      <a:r>
                        <a:rPr lang="en-US" sz="1100" dirty="0"/>
                        <a:t>12</a:t>
                      </a:r>
                    </a:p>
                  </a:txBody>
                  <a:tcPr marL="58417" marR="58417" marT="29209" marB="2920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job_management</a:t>
                      </a:r>
                    </a:p>
                  </a:txBody>
                  <a:tcPr marL="58417" marR="58417" marT="29209" marB="29209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-</a:t>
                      </a:r>
                    </a:p>
                  </a:txBody>
                  <a:tcPr marL="58417" marR="58417" marT="29209" marB="2920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/>
                        <a:t>More management jobs will decrease the likelihood of leaving the company.</a:t>
                      </a:r>
                    </a:p>
                  </a:txBody>
                  <a:tcPr marL="58417" marR="58417" marT="29209" marB="29209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7226218"/>
                  </a:ext>
                </a:extLst>
              </a:tr>
              <a:tr h="234680">
                <a:tc>
                  <a:txBody>
                    <a:bodyPr/>
                    <a:lstStyle/>
                    <a:p>
                      <a:r>
                        <a:rPr lang="en-US" sz="1100" dirty="0"/>
                        <a:t>13</a:t>
                      </a:r>
                    </a:p>
                  </a:txBody>
                  <a:tcPr marL="58417" marR="58417" marT="29209" marB="2920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job_product_mng</a:t>
                      </a:r>
                    </a:p>
                  </a:txBody>
                  <a:tcPr marL="58417" marR="58417" marT="29209" marB="29209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-</a:t>
                      </a:r>
                    </a:p>
                  </a:txBody>
                  <a:tcPr marL="58417" marR="58417" marT="29209" marB="2920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More product mng jobs will decrease the likelihood of leaving the company.</a:t>
                      </a:r>
                    </a:p>
                  </a:txBody>
                  <a:tcPr marL="58417" marR="58417" marT="29209" marB="29209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207162"/>
                  </a:ext>
                </a:extLst>
              </a:tr>
              <a:tr h="347320">
                <a:tc>
                  <a:txBody>
                    <a:bodyPr/>
                    <a:lstStyle/>
                    <a:p>
                      <a:r>
                        <a:rPr lang="en-US" sz="1100" dirty="0"/>
                        <a:t>14</a:t>
                      </a:r>
                    </a:p>
                  </a:txBody>
                  <a:tcPr marL="58417" marR="58417" marT="29209" marB="2920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job_sales</a:t>
                      </a:r>
                    </a:p>
                  </a:txBody>
                  <a:tcPr marL="58417" marR="58417" marT="29209" marB="29209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-</a:t>
                      </a:r>
                    </a:p>
                  </a:txBody>
                  <a:tcPr marL="58417" marR="58417" marT="29209" marB="2920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/>
                        <a:t>More sales jobs will decrease the likelihood of leaving the company.</a:t>
                      </a:r>
                    </a:p>
                  </a:txBody>
                  <a:tcPr marL="58417" marR="58417" marT="29209" marB="29209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5333286"/>
                  </a:ext>
                </a:extLst>
              </a:tr>
              <a:tr h="234680">
                <a:tc>
                  <a:txBody>
                    <a:bodyPr/>
                    <a:lstStyle/>
                    <a:p>
                      <a:r>
                        <a:rPr lang="en-US" sz="1100" dirty="0"/>
                        <a:t>15</a:t>
                      </a:r>
                    </a:p>
                  </a:txBody>
                  <a:tcPr marL="58417" marR="58417" marT="29209" marB="2920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job_support</a:t>
                      </a:r>
                    </a:p>
                  </a:txBody>
                  <a:tcPr marL="58417" marR="58417" marT="29209" marB="29209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-</a:t>
                      </a:r>
                    </a:p>
                  </a:txBody>
                  <a:tcPr marL="58417" marR="58417" marT="29209" marB="2920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More support jobs will decrease the likelihood of leaving the company.</a:t>
                      </a:r>
                    </a:p>
                  </a:txBody>
                  <a:tcPr marL="58417" marR="58417" marT="29209" marB="29209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1789824"/>
                  </a:ext>
                </a:extLst>
              </a:tr>
              <a:tr h="234680">
                <a:tc>
                  <a:txBody>
                    <a:bodyPr/>
                    <a:lstStyle/>
                    <a:p>
                      <a:r>
                        <a:rPr lang="en-US" sz="1100" dirty="0"/>
                        <a:t>16</a:t>
                      </a:r>
                    </a:p>
                  </a:txBody>
                  <a:tcPr marL="58417" marR="58417" marT="29209" marB="2920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job_technical</a:t>
                      </a:r>
                    </a:p>
                  </a:txBody>
                  <a:tcPr marL="58417" marR="58417" marT="29209" marB="29209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-</a:t>
                      </a:r>
                    </a:p>
                  </a:txBody>
                  <a:tcPr marL="58417" marR="58417" marT="29209" marB="2920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More technical jobs will decrease the likelihood of leaving the company.</a:t>
                      </a:r>
                    </a:p>
                  </a:txBody>
                  <a:tcPr marL="58417" marR="58417" marT="29209" marB="29209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633529"/>
                  </a:ext>
                </a:extLst>
              </a:tr>
              <a:tr h="234680">
                <a:tc>
                  <a:txBody>
                    <a:bodyPr/>
                    <a:lstStyle/>
                    <a:p>
                      <a:r>
                        <a:rPr lang="en-US" sz="1100" dirty="0"/>
                        <a:t>17</a:t>
                      </a:r>
                    </a:p>
                  </a:txBody>
                  <a:tcPr marL="58417" marR="58417" marT="29209" marB="2920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salary_high</a:t>
                      </a:r>
                    </a:p>
                  </a:txBody>
                  <a:tcPr marL="58417" marR="58417" marT="29209" marB="29209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-</a:t>
                      </a:r>
                    </a:p>
                  </a:txBody>
                  <a:tcPr marL="58417" marR="58417" marT="29209" marB="2920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/>
                        <a:t>The more the high salary the more the employees to stay in the company. </a:t>
                      </a:r>
                    </a:p>
                  </a:txBody>
                  <a:tcPr marL="58417" marR="58417" marT="29209" marB="29209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8819943"/>
                  </a:ext>
                </a:extLst>
              </a:tr>
              <a:tr h="206043">
                <a:tc>
                  <a:txBody>
                    <a:bodyPr/>
                    <a:lstStyle/>
                    <a:p>
                      <a:r>
                        <a:rPr lang="en-US" sz="1100" dirty="0"/>
                        <a:t>18</a:t>
                      </a:r>
                    </a:p>
                  </a:txBody>
                  <a:tcPr marL="58417" marR="58417" marT="29209" marB="2920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salary_low</a:t>
                      </a:r>
                    </a:p>
                  </a:txBody>
                  <a:tcPr marL="58417" marR="58417" marT="29209" marB="29209">
                    <a:solidFill>
                      <a:srgbClr val="B64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+</a:t>
                      </a:r>
                    </a:p>
                  </a:txBody>
                  <a:tcPr marL="58417" marR="58417" marT="29209" marB="2920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/>
                        <a:t>Low salary will increase the likelihood of leaving the company.</a:t>
                      </a:r>
                    </a:p>
                  </a:txBody>
                  <a:tcPr marL="58417" marR="58417" marT="29209" marB="29209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10361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070A1D84-5FD2-4D8E-8973-95CC92767C52}"/>
              </a:ext>
            </a:extLst>
          </p:cNvPr>
          <p:cNvGrpSpPr/>
          <p:nvPr/>
        </p:nvGrpSpPr>
        <p:grpSpPr>
          <a:xfrm>
            <a:off x="10033112" y="2561180"/>
            <a:ext cx="1359615" cy="707886"/>
            <a:chOff x="10033112" y="2739723"/>
            <a:chExt cx="1359615" cy="70788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019A12B-3562-4BE3-A9A4-5D64055D0106}"/>
                </a:ext>
              </a:extLst>
            </p:cNvPr>
            <p:cNvSpPr/>
            <p:nvPr/>
          </p:nvSpPr>
          <p:spPr>
            <a:xfrm>
              <a:off x="10033112" y="3029190"/>
              <a:ext cx="133206" cy="128953"/>
            </a:xfrm>
            <a:prstGeom prst="rect">
              <a:avLst/>
            </a:prstGeom>
            <a:solidFill>
              <a:srgbClr val="B64A4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96D1DC3-76F3-43A7-B68F-6A77D2FB2EAA}"/>
                </a:ext>
              </a:extLst>
            </p:cNvPr>
            <p:cNvSpPr txBox="1"/>
            <p:nvPr/>
          </p:nvSpPr>
          <p:spPr>
            <a:xfrm>
              <a:off x="10156659" y="2739723"/>
              <a:ext cx="123606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Factors that increases the likelihood of leaving the company  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C7E4D8B-5553-4A07-AC6A-593664016A8F}"/>
              </a:ext>
            </a:extLst>
          </p:cNvPr>
          <p:cNvGrpSpPr/>
          <p:nvPr/>
        </p:nvGrpSpPr>
        <p:grpSpPr>
          <a:xfrm>
            <a:off x="10033112" y="1846492"/>
            <a:ext cx="1353148" cy="707886"/>
            <a:chOff x="10033112" y="1846492"/>
            <a:chExt cx="1353148" cy="70788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0603CFE-63A7-4199-A8C2-962936D1BE7E}"/>
                </a:ext>
              </a:extLst>
            </p:cNvPr>
            <p:cNvSpPr txBox="1"/>
            <p:nvPr/>
          </p:nvSpPr>
          <p:spPr>
            <a:xfrm>
              <a:off x="10150192" y="1846492"/>
              <a:ext cx="123606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Factors that decreases the likelihood of leaving the company  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09075A5-E8D5-4C3D-B653-351BD5AB337E}"/>
                </a:ext>
              </a:extLst>
            </p:cNvPr>
            <p:cNvSpPr/>
            <p:nvPr/>
          </p:nvSpPr>
          <p:spPr>
            <a:xfrm>
              <a:off x="10033112" y="2135959"/>
              <a:ext cx="133206" cy="128953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B76F82C-D0C5-49AF-83B8-F597C1A97F8C}"/>
              </a:ext>
            </a:extLst>
          </p:cNvPr>
          <p:cNvGrpSpPr/>
          <p:nvPr/>
        </p:nvGrpSpPr>
        <p:grpSpPr>
          <a:xfrm>
            <a:off x="10033112" y="3343089"/>
            <a:ext cx="1353148" cy="430887"/>
            <a:chOff x="10033112" y="3564449"/>
            <a:chExt cx="1353148" cy="43088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5C9A0FF-C5ED-414A-A5BC-CF68ECD99176}"/>
                </a:ext>
              </a:extLst>
            </p:cNvPr>
            <p:cNvSpPr txBox="1"/>
            <p:nvPr/>
          </p:nvSpPr>
          <p:spPr>
            <a:xfrm>
              <a:off x="10156659" y="3564449"/>
              <a:ext cx="122960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Factors that has no significance.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37D610A-76B0-4502-8432-C5DA59C2EBAD}"/>
                </a:ext>
              </a:extLst>
            </p:cNvPr>
            <p:cNvSpPr/>
            <p:nvPr/>
          </p:nvSpPr>
          <p:spPr>
            <a:xfrm>
              <a:off x="10033112" y="3717802"/>
              <a:ext cx="133206" cy="128953"/>
            </a:xfrm>
            <a:prstGeom prst="rect">
              <a:avLst/>
            </a:prstGeom>
            <a:solidFill>
              <a:srgbClr val="CEC9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5A95C4E-C8C8-4AB9-A704-5DE186D9865E}"/>
              </a:ext>
            </a:extLst>
          </p:cNvPr>
          <p:cNvSpPr txBox="1"/>
          <p:nvPr/>
        </p:nvSpPr>
        <p:spPr>
          <a:xfrm>
            <a:off x="9792329" y="5327597"/>
            <a:ext cx="241760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As mentioned above, highaverage_monthly hours can lead to the people leaving, because they can be exhausted easily without having enough time to rest.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Also high last_evaluation can frustrate people and lead them to leave the Company.</a:t>
            </a:r>
          </a:p>
        </p:txBody>
      </p:sp>
    </p:spTree>
    <p:extLst>
      <p:ext uri="{BB962C8B-B14F-4D97-AF65-F5344CB8AC3E}">
        <p14:creationId xmlns:p14="http://schemas.microsoft.com/office/powerpoint/2010/main" val="1100130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265A74-10AE-44FD-AAD8-3058EBDDB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321" y="1170274"/>
            <a:ext cx="3235458" cy="4301256"/>
          </a:xfrm>
          <a:prstGeom prst="rect">
            <a:avLst/>
          </a:prstGeom>
          <a:ln w="9525">
            <a:solidFill>
              <a:srgbClr val="002060"/>
            </a:solidFill>
          </a:ln>
        </p:spPr>
      </p:pic>
      <p:sp>
        <p:nvSpPr>
          <p:cNvPr id="9" name="Multiplication Sign 8">
            <a:extLst>
              <a:ext uri="{FF2B5EF4-FFF2-40B4-BE49-F238E27FC236}">
                <a16:creationId xmlns:a16="http://schemas.microsoft.com/office/drawing/2014/main" id="{8D1237AB-A010-47AC-956C-4C1A9181FC87}"/>
              </a:ext>
            </a:extLst>
          </p:cNvPr>
          <p:cNvSpPr/>
          <p:nvPr/>
        </p:nvSpPr>
        <p:spPr>
          <a:xfrm>
            <a:off x="1217921" y="4140927"/>
            <a:ext cx="131108" cy="131108"/>
          </a:xfrm>
          <a:prstGeom prst="mathMultiply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Multiplication Sign 9">
            <a:extLst>
              <a:ext uri="{FF2B5EF4-FFF2-40B4-BE49-F238E27FC236}">
                <a16:creationId xmlns:a16="http://schemas.microsoft.com/office/drawing/2014/main" id="{896CAF16-738A-4C87-8CB6-04BBC676DEF7}"/>
              </a:ext>
            </a:extLst>
          </p:cNvPr>
          <p:cNvSpPr/>
          <p:nvPr/>
        </p:nvSpPr>
        <p:spPr>
          <a:xfrm>
            <a:off x="1217921" y="4735960"/>
            <a:ext cx="131108" cy="131108"/>
          </a:xfrm>
          <a:prstGeom prst="mathMultiply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Multiplication Sign 10">
            <a:extLst>
              <a:ext uri="{FF2B5EF4-FFF2-40B4-BE49-F238E27FC236}">
                <a16:creationId xmlns:a16="http://schemas.microsoft.com/office/drawing/2014/main" id="{352E4019-0726-43C8-87CD-ADD4B5DBD5EA}"/>
              </a:ext>
            </a:extLst>
          </p:cNvPr>
          <p:cNvSpPr/>
          <p:nvPr/>
        </p:nvSpPr>
        <p:spPr>
          <a:xfrm>
            <a:off x="1217921" y="4888104"/>
            <a:ext cx="131108" cy="131108"/>
          </a:xfrm>
          <a:prstGeom prst="mathMultiply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2" name="Diagram 21">
            <a:extLst>
              <a:ext uri="{FF2B5EF4-FFF2-40B4-BE49-F238E27FC236}">
                <a16:creationId xmlns:a16="http://schemas.microsoft.com/office/drawing/2014/main" id="{646E1AD0-08D6-459C-8FCF-E2C3263967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6435115"/>
              </p:ext>
            </p:extLst>
          </p:nvPr>
        </p:nvGraphicFramePr>
        <p:xfrm>
          <a:off x="4251018" y="714987"/>
          <a:ext cx="3689964" cy="430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5E9BA153-BAD8-4311-B73A-6CE568A0C5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9989186"/>
              </p:ext>
            </p:extLst>
          </p:nvPr>
        </p:nvGraphicFramePr>
        <p:xfrm>
          <a:off x="689321" y="715211"/>
          <a:ext cx="3235458" cy="430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59AC2C0D-D8AB-4BA1-A85A-846E765F24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668604"/>
              </p:ext>
            </p:extLst>
          </p:nvPr>
        </p:nvGraphicFramePr>
        <p:xfrm>
          <a:off x="7934350" y="655801"/>
          <a:ext cx="3952850" cy="6463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EC515CC6-1CFF-4A02-BC42-F5F94A4AB452}"/>
              </a:ext>
            </a:extLst>
          </p:cNvPr>
          <p:cNvSpPr txBox="1"/>
          <p:nvPr/>
        </p:nvSpPr>
        <p:spPr>
          <a:xfrm>
            <a:off x="8037587" y="3960210"/>
            <a:ext cx="3619500" cy="285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chemeClr val="dk1"/>
                </a:solidFill>
              </a:rPr>
              <a:t>We were expecting a</a:t>
            </a:r>
            <a:r>
              <a:rPr lang="en-US" sz="1100" b="0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verage_montly_hours to have negative impact cause most people don’t want to work too much.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100" dirty="0"/>
              <a:t>We simply guessed negative impact on all of the jobs cause we don’t have much information on the company, but except job_RandD and job_management the rest doesn't have significance.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100" b="0" dirty="0">
                <a:effectLst/>
              </a:rPr>
              <a:t>time_spend_company</a:t>
            </a:r>
            <a:r>
              <a:rPr lang="en-US" sz="1100" dirty="0"/>
              <a:t> have significance.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100" dirty="0"/>
              <a:t>Beside our comments almost all the parameters(variables) of the final model are statistically  significant.  </a:t>
            </a:r>
          </a:p>
        </p:txBody>
      </p:sp>
      <p:graphicFrame>
        <p:nvGraphicFramePr>
          <p:cNvPr id="24" name="Table 24">
            <a:extLst>
              <a:ext uri="{FF2B5EF4-FFF2-40B4-BE49-F238E27FC236}">
                <a16:creationId xmlns:a16="http://schemas.microsoft.com/office/drawing/2014/main" id="{4E9362E5-2121-4ED3-ADC2-628A2390F0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0321797"/>
              </p:ext>
            </p:extLst>
          </p:nvPr>
        </p:nvGraphicFramePr>
        <p:xfrm>
          <a:off x="8037587" y="1302132"/>
          <a:ext cx="3738231" cy="228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8255">
                  <a:extLst>
                    <a:ext uri="{9D8B030D-6E8A-4147-A177-3AD203B41FA5}">
                      <a16:colId xmlns:a16="http://schemas.microsoft.com/office/drawing/2014/main" val="1775128605"/>
                    </a:ext>
                  </a:extLst>
                </a:gridCol>
                <a:gridCol w="1208723">
                  <a:extLst>
                    <a:ext uri="{9D8B030D-6E8A-4147-A177-3AD203B41FA5}">
                      <a16:colId xmlns:a16="http://schemas.microsoft.com/office/drawing/2014/main" val="829013988"/>
                    </a:ext>
                  </a:extLst>
                </a:gridCol>
                <a:gridCol w="1251253">
                  <a:extLst>
                    <a:ext uri="{9D8B030D-6E8A-4147-A177-3AD203B41FA5}">
                      <a16:colId xmlns:a16="http://schemas.microsoft.com/office/drawing/2014/main" val="1616515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Variables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Expected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Result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9681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average_montly_hours</a:t>
                      </a:r>
                      <a:endParaRPr 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7826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job_accounting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293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job_hr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0358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job_support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2835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job_technical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518860"/>
                  </a:ext>
                </a:extLst>
              </a:tr>
            </a:tbl>
          </a:graphicData>
        </a:graphic>
      </p:graphicFrame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64E4C68-CA39-4173-B21C-30C05D15E0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2804320"/>
              </p:ext>
            </p:extLst>
          </p:nvPr>
        </p:nvGraphicFramePr>
        <p:xfrm>
          <a:off x="8142514" y="3682851"/>
          <a:ext cx="3514573" cy="276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8" r:lo="rId19" r:qs="rId20" r:cs="rId21"/>
          </a:graphicData>
        </a:graphic>
      </p:graphicFrame>
      <p:pic>
        <p:nvPicPr>
          <p:cNvPr id="31" name="Picture 30">
            <a:extLst>
              <a:ext uri="{FF2B5EF4-FFF2-40B4-BE49-F238E27FC236}">
                <a16:creationId xmlns:a16="http://schemas.microsoft.com/office/drawing/2014/main" id="{CBDAB3E4-729D-4F15-9124-700CBE7189A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251019" y="1170274"/>
            <a:ext cx="3689963" cy="4323027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37" name="Multiplication Sign 36">
            <a:extLst>
              <a:ext uri="{FF2B5EF4-FFF2-40B4-BE49-F238E27FC236}">
                <a16:creationId xmlns:a16="http://schemas.microsoft.com/office/drawing/2014/main" id="{AD3FC335-49FF-4319-BF92-1409DE1642F1}"/>
              </a:ext>
            </a:extLst>
          </p:cNvPr>
          <p:cNvSpPr/>
          <p:nvPr/>
        </p:nvSpPr>
        <p:spPr>
          <a:xfrm>
            <a:off x="1217921" y="5040248"/>
            <a:ext cx="131108" cy="131108"/>
          </a:xfrm>
          <a:prstGeom prst="mathMultiply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Multiplication Sign 37">
            <a:extLst>
              <a:ext uri="{FF2B5EF4-FFF2-40B4-BE49-F238E27FC236}">
                <a16:creationId xmlns:a16="http://schemas.microsoft.com/office/drawing/2014/main" id="{05115A05-191D-4CCE-ABB8-62A8F9B9D7AE}"/>
              </a:ext>
            </a:extLst>
          </p:cNvPr>
          <p:cNvSpPr/>
          <p:nvPr/>
        </p:nvSpPr>
        <p:spPr>
          <a:xfrm>
            <a:off x="1217921" y="4581803"/>
            <a:ext cx="131108" cy="131108"/>
          </a:xfrm>
          <a:prstGeom prst="mathMultiply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Multiplication Sign 38">
            <a:extLst>
              <a:ext uri="{FF2B5EF4-FFF2-40B4-BE49-F238E27FC236}">
                <a16:creationId xmlns:a16="http://schemas.microsoft.com/office/drawing/2014/main" id="{6D0FA3EA-B116-4FC2-8CE8-D4F21D20585B}"/>
              </a:ext>
            </a:extLst>
          </p:cNvPr>
          <p:cNvSpPr/>
          <p:nvPr/>
        </p:nvSpPr>
        <p:spPr>
          <a:xfrm>
            <a:off x="1217921" y="4292155"/>
            <a:ext cx="131108" cy="131108"/>
          </a:xfrm>
          <a:prstGeom prst="mathMultiply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Multiplication Sign 39">
            <a:extLst>
              <a:ext uri="{FF2B5EF4-FFF2-40B4-BE49-F238E27FC236}">
                <a16:creationId xmlns:a16="http://schemas.microsoft.com/office/drawing/2014/main" id="{903A8A11-946A-4D39-8B00-869027462AEE}"/>
              </a:ext>
            </a:extLst>
          </p:cNvPr>
          <p:cNvSpPr/>
          <p:nvPr/>
        </p:nvSpPr>
        <p:spPr>
          <a:xfrm>
            <a:off x="1217921" y="3842759"/>
            <a:ext cx="131108" cy="131108"/>
          </a:xfrm>
          <a:prstGeom prst="mathMultiply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FC8D322-004B-4927-A873-36840F5E51FA}"/>
              </a:ext>
            </a:extLst>
          </p:cNvPr>
          <p:cNvSpPr/>
          <p:nvPr/>
        </p:nvSpPr>
        <p:spPr>
          <a:xfrm>
            <a:off x="2986602" y="3875766"/>
            <a:ext cx="230244" cy="84084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5771528-D3F1-4302-8506-5D6A35934EB8}"/>
              </a:ext>
            </a:extLst>
          </p:cNvPr>
          <p:cNvSpPr/>
          <p:nvPr/>
        </p:nvSpPr>
        <p:spPr>
          <a:xfrm>
            <a:off x="2989227" y="4162097"/>
            <a:ext cx="230244" cy="84084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E8735D4-8328-406F-8F86-FDAF9551A413}"/>
              </a:ext>
            </a:extLst>
          </p:cNvPr>
          <p:cNvSpPr/>
          <p:nvPr/>
        </p:nvSpPr>
        <p:spPr>
          <a:xfrm>
            <a:off x="2989229" y="4317124"/>
            <a:ext cx="230244" cy="84084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5FD0C94-742E-4286-9B01-6FDAF9DBDF0B}"/>
              </a:ext>
            </a:extLst>
          </p:cNvPr>
          <p:cNvSpPr/>
          <p:nvPr/>
        </p:nvSpPr>
        <p:spPr>
          <a:xfrm>
            <a:off x="2983971" y="4606160"/>
            <a:ext cx="230244" cy="84084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CB27ECB-FC06-4834-B3BA-EECDFD9316F6}"/>
              </a:ext>
            </a:extLst>
          </p:cNvPr>
          <p:cNvSpPr/>
          <p:nvPr/>
        </p:nvSpPr>
        <p:spPr>
          <a:xfrm>
            <a:off x="2986596" y="4755926"/>
            <a:ext cx="230244" cy="84084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839B0A2-098A-4914-A108-AEF163A9E15F}"/>
              </a:ext>
            </a:extLst>
          </p:cNvPr>
          <p:cNvSpPr/>
          <p:nvPr/>
        </p:nvSpPr>
        <p:spPr>
          <a:xfrm>
            <a:off x="2989222" y="4908326"/>
            <a:ext cx="230244" cy="84084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AD1031E-12A1-44D6-961D-5DBCBA28E482}"/>
              </a:ext>
            </a:extLst>
          </p:cNvPr>
          <p:cNvSpPr/>
          <p:nvPr/>
        </p:nvSpPr>
        <p:spPr>
          <a:xfrm>
            <a:off x="2983965" y="5058098"/>
            <a:ext cx="230244" cy="84084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FE2CFF9-C51E-4F9D-BDD7-29CB218D855D}"/>
              </a:ext>
            </a:extLst>
          </p:cNvPr>
          <p:cNvSpPr/>
          <p:nvPr/>
        </p:nvSpPr>
        <p:spPr>
          <a:xfrm>
            <a:off x="6949440" y="3257005"/>
            <a:ext cx="287383" cy="210399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6D0BD79-C10B-4D81-89AD-DD81AC31142F}"/>
              </a:ext>
            </a:extLst>
          </p:cNvPr>
          <p:cNvSpPr/>
          <p:nvPr/>
        </p:nvSpPr>
        <p:spPr>
          <a:xfrm>
            <a:off x="3203105" y="1714751"/>
            <a:ext cx="298056" cy="127168"/>
          </a:xfrm>
          <a:prstGeom prst="rect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BDCB465-2AF9-4625-9827-3A7B8DECB5B5}"/>
              </a:ext>
            </a:extLst>
          </p:cNvPr>
          <p:cNvSpPr/>
          <p:nvPr/>
        </p:nvSpPr>
        <p:spPr>
          <a:xfrm>
            <a:off x="7225041" y="1867151"/>
            <a:ext cx="298056" cy="127168"/>
          </a:xfrm>
          <a:prstGeom prst="rect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17497E4-8F7B-4148-BBA5-96AF78BBD090}"/>
              </a:ext>
            </a:extLst>
          </p:cNvPr>
          <p:cNvSpPr/>
          <p:nvPr/>
        </p:nvSpPr>
        <p:spPr>
          <a:xfrm>
            <a:off x="3204114" y="1873207"/>
            <a:ext cx="298056" cy="127168"/>
          </a:xfrm>
          <a:prstGeom prst="rect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77EBD72-9ACC-4E33-964F-AC3FFE927AEF}"/>
              </a:ext>
            </a:extLst>
          </p:cNvPr>
          <p:cNvSpPr/>
          <p:nvPr/>
        </p:nvSpPr>
        <p:spPr>
          <a:xfrm>
            <a:off x="7218985" y="2062159"/>
            <a:ext cx="298056" cy="127168"/>
          </a:xfrm>
          <a:prstGeom prst="rect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378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C38A6-9D15-4F6B-BC1C-56BEB7D57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Explain how you calculated the optimal threshold for classification?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3F9704-6423-4E79-A9BF-ED520DB18F92}"/>
              </a:ext>
            </a:extLst>
          </p:cNvPr>
          <p:cNvSpPr txBox="1"/>
          <p:nvPr/>
        </p:nvSpPr>
        <p:spPr>
          <a:xfrm>
            <a:off x="421064" y="1875934"/>
            <a:ext cx="113498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Initially we have to approach the test and train method to keep almost same proportion of categories, in our case its 0’s and 1’s.</a:t>
            </a:r>
          </a:p>
          <a:p>
            <a:endParaRPr lang="en-US" dirty="0"/>
          </a:p>
          <a:p>
            <a:r>
              <a:rPr lang="en-US" dirty="0"/>
              <a:t> 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B1BA8423-1468-479F-A55C-EB2674F53F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9717542"/>
              </p:ext>
            </p:extLst>
          </p:nvPr>
        </p:nvGraphicFramePr>
        <p:xfrm>
          <a:off x="421064" y="2337599"/>
          <a:ext cx="8038707" cy="3506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27264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97BF11D-C7BB-43CF-9E85-6825870725F5}"/>
              </a:ext>
            </a:extLst>
          </p:cNvPr>
          <p:cNvSpPr txBox="1"/>
          <p:nvPr/>
        </p:nvSpPr>
        <p:spPr>
          <a:xfrm>
            <a:off x="4544569" y="31760"/>
            <a:ext cx="3092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Graphical Representations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A15F8A-1FDC-410F-8397-B0CCF3BE5135}"/>
              </a:ext>
            </a:extLst>
          </p:cNvPr>
          <p:cNvSpPr txBox="1"/>
          <p:nvPr/>
        </p:nvSpPr>
        <p:spPr>
          <a:xfrm>
            <a:off x="493060" y="499854"/>
            <a:ext cx="3053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Correlation matrix heatmap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10A1C6C-210A-480D-8571-1B8538D7066D}"/>
              </a:ext>
            </a:extLst>
          </p:cNvPr>
          <p:cNvSpPr txBox="1"/>
          <p:nvPr/>
        </p:nvSpPr>
        <p:spPr>
          <a:xfrm>
            <a:off x="4737205" y="499854"/>
            <a:ext cx="3053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ROC curve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FF74AFC-EE6A-4351-A95A-E64FC99D5636}"/>
              </a:ext>
            </a:extLst>
          </p:cNvPr>
          <p:cNvSpPr txBox="1"/>
          <p:nvPr/>
        </p:nvSpPr>
        <p:spPr>
          <a:xfrm>
            <a:off x="8775238" y="474786"/>
            <a:ext cx="3053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Classification Report &amp; Confusion Matrix.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2BC4F3-4CC9-4DF4-A4BD-FE3F8B4A7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152" y="936423"/>
            <a:ext cx="3053656" cy="2572193"/>
          </a:xfrm>
          <a:prstGeom prst="rect">
            <a:avLst/>
          </a:prstGeom>
          <a:ln>
            <a:noFill/>
          </a:ln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077F475-C205-4626-90C5-E62AF154DC17}"/>
              </a:ext>
            </a:extLst>
          </p:cNvPr>
          <p:cNvSpPr/>
          <p:nvPr/>
        </p:nvSpPr>
        <p:spPr>
          <a:xfrm>
            <a:off x="402942" y="936423"/>
            <a:ext cx="3300793" cy="265155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0AD9BD8-601E-4FA9-BE4B-FC15E97A9348}"/>
              </a:ext>
            </a:extLst>
          </p:cNvPr>
          <p:cNvGrpSpPr/>
          <p:nvPr/>
        </p:nvGrpSpPr>
        <p:grpSpPr>
          <a:xfrm>
            <a:off x="9115068" y="4162330"/>
            <a:ext cx="2189651" cy="2366255"/>
            <a:chOff x="9115068" y="4162330"/>
            <a:chExt cx="2189651" cy="2366255"/>
          </a:xfrm>
        </p:grpSpPr>
        <p:graphicFrame>
          <p:nvGraphicFramePr>
            <p:cNvPr id="45" name="Diagram 44">
              <a:extLst>
                <a:ext uri="{FF2B5EF4-FFF2-40B4-BE49-F238E27FC236}">
                  <a16:creationId xmlns:a16="http://schemas.microsoft.com/office/drawing/2014/main" id="{0A31A54D-E19B-4A6E-9015-CDE6D6D9A082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484888896"/>
                </p:ext>
              </p:extLst>
            </p:nvPr>
          </p:nvGraphicFramePr>
          <p:xfrm>
            <a:off x="9115068" y="4162330"/>
            <a:ext cx="2189651" cy="246221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7A3EDE4A-D3CC-46C9-9C78-131775BC00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18088" t="24053" r="56104" b="23530"/>
            <a:stretch/>
          </p:blipFill>
          <p:spPr>
            <a:xfrm>
              <a:off x="9238724" y="4430693"/>
              <a:ext cx="1836309" cy="2097892"/>
            </a:xfrm>
            <a:prstGeom prst="rect">
              <a:avLst/>
            </a:prstGeom>
            <a:ln>
              <a:solidFill>
                <a:srgbClr val="002060"/>
              </a:solidFill>
            </a:ln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C5B2E68-77B5-4D29-8805-324660EFAD26}"/>
                </a:ext>
              </a:extLst>
            </p:cNvPr>
            <p:cNvSpPr/>
            <p:nvPr/>
          </p:nvSpPr>
          <p:spPr>
            <a:xfrm>
              <a:off x="9247705" y="4448245"/>
              <a:ext cx="739387" cy="87733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5211C47-67BB-40BB-8F83-AB09E014C77D}"/>
              </a:ext>
            </a:extLst>
          </p:cNvPr>
          <p:cNvGrpSpPr/>
          <p:nvPr/>
        </p:nvGrpSpPr>
        <p:grpSpPr>
          <a:xfrm>
            <a:off x="9136500" y="1173998"/>
            <a:ext cx="2204704" cy="2560790"/>
            <a:chOff x="9136500" y="1173998"/>
            <a:chExt cx="2204704" cy="2560790"/>
          </a:xfrm>
        </p:grpSpPr>
        <p:graphicFrame>
          <p:nvGraphicFramePr>
            <p:cNvPr id="47" name="Diagram 46">
              <a:extLst>
                <a:ext uri="{FF2B5EF4-FFF2-40B4-BE49-F238E27FC236}">
                  <a16:creationId xmlns:a16="http://schemas.microsoft.com/office/drawing/2014/main" id="{6537FD2D-6FE8-4B81-95B8-4F59447C5BF3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715388192"/>
                </p:ext>
              </p:extLst>
            </p:nvPr>
          </p:nvGraphicFramePr>
          <p:xfrm>
            <a:off x="9136500" y="1173998"/>
            <a:ext cx="2108385" cy="251003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9" r:lo="rId10" r:qs="rId11" r:cs="rId12"/>
            </a:graphicData>
          </a:graphic>
        </p:graphicFrame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6520F9E3-1CD4-4116-B9B1-B9DF0445CF2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/>
            <a:srcRect l="17760" t="23601" r="50696" b="6562"/>
            <a:stretch/>
          </p:blipFill>
          <p:spPr>
            <a:xfrm>
              <a:off x="9262927" y="1417141"/>
              <a:ext cx="2078277" cy="2317647"/>
            </a:xfrm>
            <a:prstGeom prst="rect">
              <a:avLst/>
            </a:prstGeom>
            <a:ln>
              <a:solidFill>
                <a:srgbClr val="002060"/>
              </a:solidFill>
            </a:ln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2BF1F6C-7B30-4843-8BDB-C3454D2B82BE}"/>
                </a:ext>
              </a:extLst>
            </p:cNvPr>
            <p:cNvSpPr/>
            <p:nvPr/>
          </p:nvSpPr>
          <p:spPr>
            <a:xfrm>
              <a:off x="9259767" y="1425001"/>
              <a:ext cx="739387" cy="87733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BB09457-793B-4ABF-9C6E-4B8414331513}"/>
                </a:ext>
              </a:extLst>
            </p:cNvPr>
            <p:cNvSpPr/>
            <p:nvPr/>
          </p:nvSpPr>
          <p:spPr>
            <a:xfrm>
              <a:off x="10659299" y="1858086"/>
              <a:ext cx="202276" cy="84546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7BE01794-E6C6-42DE-AC05-BA2FEB8379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4098504"/>
              </p:ext>
            </p:extLst>
          </p:nvPr>
        </p:nvGraphicFramePr>
        <p:xfrm>
          <a:off x="220279" y="3798403"/>
          <a:ext cx="4294909" cy="3693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5" r:lo="rId16" r:qs="rId17" r:cs="rId18"/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3A05DB89-EAC8-4AAB-9CE8-3453BB074A5A}"/>
              </a:ext>
            </a:extLst>
          </p:cNvPr>
          <p:cNvSpPr txBox="1"/>
          <p:nvPr/>
        </p:nvSpPr>
        <p:spPr>
          <a:xfrm>
            <a:off x="200824" y="4299574"/>
            <a:ext cx="40362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   Our base model in the test observation was 0.238, after     </a:t>
            </a:r>
          </a:p>
          <a:p>
            <a:r>
              <a:rPr lang="en-US" sz="1200" dirty="0"/>
              <a:t>        some calculation the result become 0.7907. So this </a:t>
            </a:r>
          </a:p>
          <a:p>
            <a:r>
              <a:rPr lang="en-US" sz="1200" dirty="0"/>
              <a:t>        means we improved our model by almost 5%.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E6F1C69-3E80-48DB-97B1-E61A918F6502}"/>
              </a:ext>
            </a:extLst>
          </p:cNvPr>
          <p:cNvSpPr txBox="1"/>
          <p:nvPr/>
        </p:nvSpPr>
        <p:spPr>
          <a:xfrm>
            <a:off x="200824" y="4922856"/>
            <a:ext cx="5278065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200" dirty="0"/>
              <a:t>True Positive Rate: when its actually yes, how often does it predict yes?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TP/actual yes = 8.1/15.7+8.1 = 0.34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200" dirty="0"/>
              <a:t> Also know as “Sensitivity” or “Recall”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200" dirty="0"/>
              <a:t>False Positive Rate: when its actually no, how often does it predict yes?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FP/actual no = 70.97/70.97+5.23=0.93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200" dirty="0"/>
              <a:t>True Negative Rate: when its actually no, how often does it predict no?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TN/actual no = 100/110 = 0.61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Equivalent to 1 minus False Positive Rate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Also know as “Specificity”</a:t>
            </a:r>
          </a:p>
          <a:p>
            <a:r>
              <a:rPr lang="en-US" sz="1400" dirty="0"/>
              <a:t> 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0D03CAE3-3F6F-4A7C-A824-2469F45A4459}"/>
              </a:ext>
            </a:extLst>
          </p:cNvPr>
          <p:cNvPicPr>
            <a:picLocks noChangeAspect="1"/>
          </p:cNvPicPr>
          <p:nvPr/>
        </p:nvPicPr>
        <p:blipFill rotWithShape="1">
          <a:blip r:embed="rId20"/>
          <a:srcRect l="18085" t="37561" r="48811" b="19444"/>
          <a:stretch/>
        </p:blipFill>
        <p:spPr>
          <a:xfrm>
            <a:off x="4417731" y="936423"/>
            <a:ext cx="3290778" cy="2403935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6E8296C0-7A7F-4769-B2F8-77B6A7422EF1}"/>
              </a:ext>
            </a:extLst>
          </p:cNvPr>
          <p:cNvCxnSpPr/>
          <p:nvPr/>
        </p:nvCxnSpPr>
        <p:spPr>
          <a:xfrm rot="10800000" flipV="1">
            <a:off x="3703736" y="3734787"/>
            <a:ext cx="5534989" cy="24828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9405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Thank You</a:t>
            </a:r>
          </a:p>
        </p:txBody>
      </p:sp>
      <p:pic>
        <p:nvPicPr>
          <p:cNvPr id="5" name="Picture 4" descr="Digital Number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6390039_win32_fixed.potx" id="{A1D6ED5A-9B8A-4433-BA99-139C56DB1BDE}" vid="{3B3EDB20-B381-4B6C-99AC-7C5CDA2B40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 design</Template>
  <TotalTime>1793</TotalTime>
  <Words>808</Words>
  <Application>Microsoft Office PowerPoint</Application>
  <PresentationFormat>Widescreen</PresentationFormat>
  <Paragraphs>145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Gill Sans MT</vt:lpstr>
      <vt:lpstr>Wingdings</vt:lpstr>
      <vt:lpstr>Wingdings 2</vt:lpstr>
      <vt:lpstr>Dividend</vt:lpstr>
      <vt:lpstr>Applied Machine Learning</vt:lpstr>
      <vt:lpstr>State what parameters sign You Expect ?</vt:lpstr>
      <vt:lpstr>PowerPoint Presentation</vt:lpstr>
      <vt:lpstr>Explain how you calculated the optimal threshold for classification?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Applied Machine Learning</dc:title>
  <dc:creator>abel nerea</dc:creator>
  <cp:lastModifiedBy>Goodluck Nwaukwa</cp:lastModifiedBy>
  <cp:revision>9</cp:revision>
  <dcterms:created xsi:type="dcterms:W3CDTF">2022-04-03T06:36:54Z</dcterms:created>
  <dcterms:modified xsi:type="dcterms:W3CDTF">2022-04-04T21:12:58Z</dcterms:modified>
</cp:coreProperties>
</file>